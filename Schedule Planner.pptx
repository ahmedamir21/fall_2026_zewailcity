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10.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4.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media/image1.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9144000" cy="5143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040040" y="1324440"/>
            <a:ext cx="7063920" cy="2052360"/>
          </a:xfrm>
          <a:prstGeom prst="rect">
            <a:avLst/>
          </a:prstGeom>
          <a:noFill/>
          <a:ln w="0">
            <a:noFill/>
          </a:ln>
        </p:spPr>
        <p:txBody>
          <a:bodyPr lIns="91440" rIns="91440" tIns="91440" bIns="91440" anchor="b">
            <a:noAutofit/>
          </a:bodyPr>
          <a:p>
            <a:pPr indent="0">
              <a:buNone/>
            </a:pPr>
            <a:r>
              <a:rPr b="0" lang="fr-FR" sz="6500" strike="noStrike" u="none">
                <a:solidFill>
                  <a:schemeClr val="dk1"/>
                </a:solidFill>
                <a:effectLst/>
                <a:uFillTx/>
                <a:latin typeface="Arial"/>
              </a:rPr>
              <a:t>Click to edit the title text format</a:t>
            </a:r>
            <a:endParaRPr b="0" lang="fr-FR" sz="6500" strike="noStrike" u="none">
              <a:solidFill>
                <a:schemeClr val="dk1"/>
              </a:solidFill>
              <a:effectLst/>
              <a:uFillTx/>
              <a:latin typeface="Arial"/>
            </a:endParaRPr>
          </a:p>
        </p:txBody>
      </p:sp>
      <p:cxnSp>
        <p:nvCxnSpPr>
          <p:cNvPr id="3" name="Google Shape;11;p2"/>
          <p:cNvCxnSpPr/>
          <p:nvPr/>
        </p:nvCxnSpPr>
        <p:spPr>
          <a:xfrm>
            <a:off x="-72360" y="273960"/>
            <a:ext cx="9287280" cy="360"/>
          </a:xfrm>
          <a:prstGeom prst="straightConnector1">
            <a:avLst/>
          </a:prstGeom>
          <a:ln w="28575">
            <a:solidFill>
              <a:srgbClr val="3f3533"/>
            </a:solidFill>
            <a:round/>
          </a:ln>
        </p:spPr>
      </p:cxnSp>
      <p:cxnSp>
        <p:nvCxnSpPr>
          <p:cNvPr id="4" name="Google Shape;12;p2"/>
          <p:cNvCxnSpPr/>
          <p:nvPr/>
        </p:nvCxnSpPr>
        <p:spPr>
          <a:xfrm flipV="1" rot="10800000">
            <a:off x="-257760" y="-72720"/>
            <a:ext cx="3047400" cy="1346400"/>
          </a:xfrm>
          <a:prstGeom prst="curvedConnector3">
            <a:avLst>
              <a:gd name="adj1" fmla="val 50000"/>
            </a:avLst>
          </a:prstGeom>
          <a:ln w="28575">
            <a:solidFill>
              <a:srgbClr val="3f3533"/>
            </a:solidFill>
            <a:round/>
          </a:ln>
        </p:spPr>
      </p:cxnSp>
      <p:cxnSp>
        <p:nvCxnSpPr>
          <p:cNvPr id="5" name="Google Shape;13;p2"/>
          <p:cNvCxnSpPr/>
          <p:nvPr/>
        </p:nvCxnSpPr>
        <p:spPr>
          <a:xfrm>
            <a:off x="-72360" y="4877280"/>
            <a:ext cx="9287280" cy="360"/>
          </a:xfrm>
          <a:prstGeom prst="straightConnector1">
            <a:avLst/>
          </a:prstGeom>
          <a:ln w="28575">
            <a:solidFill>
              <a:srgbClr val="3f3533"/>
            </a:solidFill>
            <a:round/>
          </a:ln>
        </p:spPr>
      </p:cxnSp>
      <p:cxnSp>
        <p:nvCxnSpPr>
          <p:cNvPr id="6" name="Google Shape;14;p2"/>
          <p:cNvCxnSpPr/>
          <p:nvPr/>
        </p:nvCxnSpPr>
        <p:spPr>
          <a:xfrm flipV="1" rot="10800000">
            <a:off x="6467040" y="3935160"/>
            <a:ext cx="3047760" cy="1346760"/>
          </a:xfrm>
          <a:prstGeom prst="curvedConnector3">
            <a:avLst>
              <a:gd name="adj1" fmla="val 49994"/>
            </a:avLst>
          </a:prstGeom>
          <a:ln w="28575">
            <a:solidFill>
              <a:srgbClr val="3f3533"/>
            </a:solidFill>
            <a:round/>
          </a:ln>
        </p:spPr>
      </p:cxnSp>
      <p:sp>
        <p:nvSpPr>
          <p:cNvPr id="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3">
    <p:bg>
      <p:bgPr>
        <a:solidFill>
          <a:schemeClr val="lt1"/>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1731960" y="444960"/>
            <a:ext cx="567972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cxnSp>
        <p:nvCxnSpPr>
          <p:cNvPr id="9" name="Google Shape;128;p17"/>
          <p:cNvCxnSpPr/>
          <p:nvPr/>
        </p:nvCxnSpPr>
        <p:spPr>
          <a:xfrm>
            <a:off x="-72360" y="273960"/>
            <a:ext cx="9287280" cy="360"/>
          </a:xfrm>
          <a:prstGeom prst="straightConnector1">
            <a:avLst/>
          </a:prstGeom>
          <a:ln w="28575">
            <a:solidFill>
              <a:srgbClr val="3f3533"/>
            </a:solidFill>
            <a:round/>
          </a:ln>
        </p:spPr>
      </p:cxnSp>
      <p:cxnSp>
        <p:nvCxnSpPr>
          <p:cNvPr id="10" name="Google Shape;129;p17"/>
          <p:cNvCxnSpPr/>
          <p:nvPr/>
        </p:nvCxnSpPr>
        <p:spPr>
          <a:xfrm>
            <a:off x="-72360" y="4877280"/>
            <a:ext cx="9287280" cy="360"/>
          </a:xfrm>
          <a:prstGeom prst="straightConnector1">
            <a:avLst/>
          </a:prstGeom>
          <a:ln w="28575">
            <a:solidFill>
              <a:srgbClr val="3f3533"/>
            </a:solidFill>
            <a:round/>
          </a:ln>
        </p:spPr>
      </p:cxnSp>
      <p:cxnSp>
        <p:nvCxnSpPr>
          <p:cNvPr id="11" name="Google Shape;130;p17"/>
          <p:cNvCxnSpPr/>
          <p:nvPr/>
        </p:nvCxnSpPr>
        <p:spPr>
          <a:xfrm>
            <a:off x="-250200" y="4076280"/>
            <a:ext cx="1927080" cy="1161360"/>
          </a:xfrm>
          <a:prstGeom prst="curvedConnector3">
            <a:avLst>
              <a:gd name="adj1" fmla="val 50000"/>
            </a:avLst>
          </a:prstGeom>
          <a:ln w="28575">
            <a:solidFill>
              <a:srgbClr val="3f3533"/>
            </a:solidFill>
            <a:round/>
          </a:ln>
        </p:spPr>
      </p:cxnSp>
      <p:cxnSp>
        <p:nvCxnSpPr>
          <p:cNvPr id="12" name="Google Shape;131;p17"/>
          <p:cNvCxnSpPr/>
          <p:nvPr/>
        </p:nvCxnSpPr>
        <p:spPr>
          <a:xfrm>
            <a:off x="7440840" y="-48240"/>
            <a:ext cx="1927440" cy="1161000"/>
          </a:xfrm>
          <a:prstGeom prst="curvedConnector3">
            <a:avLst>
              <a:gd name="adj1" fmla="val 50009"/>
            </a:avLst>
          </a:prstGeom>
          <a:ln w="28575">
            <a:solidFill>
              <a:srgbClr val="3f3533"/>
            </a:solidFill>
            <a:round/>
          </a:ln>
        </p:spPr>
      </p:cxnSp>
      <p:sp>
        <p:nvSpPr>
          <p:cNvPr id="1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_1">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713160" y="444960"/>
            <a:ext cx="567972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cxnSp>
        <p:nvCxnSpPr>
          <p:cNvPr id="15" name="Google Shape;135;p18"/>
          <p:cNvCxnSpPr/>
          <p:nvPr/>
        </p:nvCxnSpPr>
        <p:spPr>
          <a:xfrm>
            <a:off x="-72360" y="273960"/>
            <a:ext cx="9287280" cy="360"/>
          </a:xfrm>
          <a:prstGeom prst="straightConnector1">
            <a:avLst/>
          </a:prstGeom>
          <a:ln w="28575">
            <a:solidFill>
              <a:srgbClr val="3f3533"/>
            </a:solidFill>
            <a:round/>
          </a:ln>
        </p:spPr>
      </p:cxnSp>
      <p:cxnSp>
        <p:nvCxnSpPr>
          <p:cNvPr id="16" name="Google Shape;136;p18"/>
          <p:cNvCxnSpPr/>
          <p:nvPr/>
        </p:nvCxnSpPr>
        <p:spPr>
          <a:xfrm>
            <a:off x="-72360" y="4877280"/>
            <a:ext cx="9287280" cy="360"/>
          </a:xfrm>
          <a:prstGeom prst="straightConnector1">
            <a:avLst/>
          </a:prstGeom>
          <a:ln w="28575">
            <a:solidFill>
              <a:srgbClr val="3f3533"/>
            </a:solidFill>
            <a:round/>
          </a:ln>
        </p:spPr>
      </p:cxnSp>
      <p:cxnSp>
        <p:nvCxnSpPr>
          <p:cNvPr id="17" name="Google Shape;137;p18"/>
          <p:cNvCxnSpPr/>
          <p:nvPr/>
        </p:nvCxnSpPr>
        <p:spPr>
          <a:xfrm flipV="1" rot="10800000">
            <a:off x="5924880" y="2796840"/>
            <a:ext cx="3378240" cy="2467440"/>
          </a:xfrm>
          <a:prstGeom prst="curvedConnector3">
            <a:avLst>
              <a:gd name="adj1" fmla="val 49994"/>
            </a:avLst>
          </a:prstGeom>
          <a:ln w="28575">
            <a:solidFill>
              <a:srgbClr val="3f3533"/>
            </a:solidFill>
            <a:round/>
          </a:ln>
        </p:spPr>
      </p:cxnSp>
      <p:sp>
        <p:nvSpPr>
          <p:cNvPr id="1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713160" y="444960"/>
            <a:ext cx="471132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20" name="PlaceHolder 2"/>
          <p:cNvSpPr>
            <a:spLocks noGrp="1"/>
          </p:cNvSpPr>
          <p:nvPr>
            <p:ph type="body"/>
          </p:nvPr>
        </p:nvSpPr>
        <p:spPr>
          <a:xfrm>
            <a:off x="713160" y="1272960"/>
            <a:ext cx="7717320" cy="32954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100" strike="noStrike" u="none">
                <a:solidFill>
                  <a:srgbClr val="000000"/>
                </a:solidFill>
                <a:effectLst/>
                <a:uFillTx/>
                <a:latin typeface="Arial"/>
              </a:rPr>
              <a:t>Click to edit the outline text format</a:t>
            </a:r>
            <a:endParaRPr b="0" lang="fr-FR" sz="11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100" strike="noStrike" u="none">
                <a:solidFill>
                  <a:srgbClr val="000000"/>
                </a:solidFill>
                <a:effectLst/>
                <a:uFillTx/>
                <a:latin typeface="Arial"/>
              </a:rPr>
              <a:t>Second Outline Level</a:t>
            </a:r>
            <a:endParaRPr b="0" lang="fr-FR" sz="11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100" strike="noStrike" u="none">
                <a:solidFill>
                  <a:srgbClr val="000000"/>
                </a:solidFill>
                <a:effectLst/>
                <a:uFillTx/>
                <a:latin typeface="Arial"/>
              </a:rPr>
              <a:t>Third Outline Level</a:t>
            </a:r>
            <a:endParaRPr b="0" lang="fr-FR" sz="11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100" strike="noStrike" u="none">
                <a:solidFill>
                  <a:srgbClr val="000000"/>
                </a:solidFill>
                <a:effectLst/>
                <a:uFillTx/>
                <a:latin typeface="Arial"/>
              </a:rPr>
              <a:t>Fourth Outline Level</a:t>
            </a:r>
            <a:endParaRPr b="0" lang="fr-FR" sz="11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100" strike="noStrike" u="none">
                <a:solidFill>
                  <a:srgbClr val="000000"/>
                </a:solidFill>
                <a:effectLst/>
                <a:uFillTx/>
                <a:latin typeface="Arial"/>
              </a:rPr>
              <a:t>Fifth Outline Level</a:t>
            </a:r>
            <a:endParaRPr b="0" lang="fr-FR" sz="11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100" strike="noStrike" u="none">
                <a:solidFill>
                  <a:srgbClr val="000000"/>
                </a:solidFill>
                <a:effectLst/>
                <a:uFillTx/>
                <a:latin typeface="Arial"/>
              </a:rPr>
              <a:t>Sixth Outline Level</a:t>
            </a:r>
            <a:endParaRPr b="0" lang="fr-FR" sz="11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100" strike="noStrike" u="none">
                <a:solidFill>
                  <a:srgbClr val="000000"/>
                </a:solidFill>
                <a:effectLst/>
                <a:uFillTx/>
                <a:latin typeface="Arial"/>
              </a:rPr>
              <a:t>Seventh Outline Level</a:t>
            </a:r>
            <a:endParaRPr b="0" lang="fr-FR" sz="1100" strike="noStrike" u="none">
              <a:solidFill>
                <a:srgbClr val="000000"/>
              </a:solidFill>
              <a:effectLst/>
              <a:uFillTx/>
              <a:latin typeface="Arial"/>
            </a:endParaRPr>
          </a:p>
        </p:txBody>
      </p:sp>
      <p:cxnSp>
        <p:nvCxnSpPr>
          <p:cNvPr id="21" name="Google Shape;26;p4"/>
          <p:cNvCxnSpPr/>
          <p:nvPr/>
        </p:nvCxnSpPr>
        <p:spPr>
          <a:xfrm>
            <a:off x="-72360" y="273960"/>
            <a:ext cx="9287280" cy="360"/>
          </a:xfrm>
          <a:prstGeom prst="straightConnector1">
            <a:avLst/>
          </a:prstGeom>
          <a:ln w="28575">
            <a:solidFill>
              <a:srgbClr val="3f3533"/>
            </a:solidFill>
            <a:round/>
          </a:ln>
        </p:spPr>
      </p:cxnSp>
      <p:cxnSp>
        <p:nvCxnSpPr>
          <p:cNvPr id="22" name="Google Shape;27;p4"/>
          <p:cNvCxnSpPr/>
          <p:nvPr/>
        </p:nvCxnSpPr>
        <p:spPr>
          <a:xfrm>
            <a:off x="-72360" y="4877280"/>
            <a:ext cx="9287280" cy="360"/>
          </a:xfrm>
          <a:prstGeom prst="straightConnector1">
            <a:avLst/>
          </a:prstGeom>
          <a:ln w="28575">
            <a:solidFill>
              <a:srgbClr val="3f3533"/>
            </a:solidFill>
            <a:round/>
          </a:ln>
        </p:spPr>
      </p:cxnSp>
      <p:cxnSp>
        <p:nvCxnSpPr>
          <p:cNvPr id="23" name="Google Shape;28;p4"/>
          <p:cNvCxnSpPr/>
          <p:nvPr/>
        </p:nvCxnSpPr>
        <p:spPr>
          <a:xfrm>
            <a:off x="6884640" y="-113400"/>
            <a:ext cx="2566080" cy="1306080"/>
          </a:xfrm>
          <a:prstGeom prst="curvedConnector3">
            <a:avLst>
              <a:gd name="adj1" fmla="val 50007"/>
            </a:avLst>
          </a:prstGeom>
          <a:ln w="28575">
            <a:solidFill>
              <a:srgbClr val="3f3533"/>
            </a:solidFill>
            <a:round/>
          </a:ln>
        </p:spPr>
      </p:cxn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bg>
      <p:bgPr>
        <a:solidFill>
          <a:schemeClr val="lt1"/>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713160" y="444960"/>
            <a:ext cx="450252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cxnSp>
        <p:nvCxnSpPr>
          <p:cNvPr id="25" name="Google Shape;414;p46"/>
          <p:cNvCxnSpPr/>
          <p:nvPr/>
        </p:nvCxnSpPr>
        <p:spPr>
          <a:xfrm>
            <a:off x="-72360" y="273960"/>
            <a:ext cx="9287280" cy="360"/>
          </a:xfrm>
          <a:prstGeom prst="straightConnector1">
            <a:avLst/>
          </a:prstGeom>
          <a:ln w="28575">
            <a:solidFill>
              <a:srgbClr val="3f3533"/>
            </a:solidFill>
            <a:round/>
          </a:ln>
        </p:spPr>
      </p:cxnSp>
      <p:cxnSp>
        <p:nvCxnSpPr>
          <p:cNvPr id="26" name="Google Shape;415;p46"/>
          <p:cNvCxnSpPr/>
          <p:nvPr/>
        </p:nvCxnSpPr>
        <p:spPr>
          <a:xfrm>
            <a:off x="-72360" y="4877280"/>
            <a:ext cx="9287280" cy="360"/>
          </a:xfrm>
          <a:prstGeom prst="straightConnector1">
            <a:avLst/>
          </a:prstGeom>
          <a:ln w="28575">
            <a:solidFill>
              <a:srgbClr val="3f3533"/>
            </a:solidFill>
            <a:round/>
          </a:ln>
        </p:spPr>
      </p:cxnSp>
      <p:cxnSp>
        <p:nvCxnSpPr>
          <p:cNvPr id="27" name="Google Shape;416;p46"/>
          <p:cNvCxnSpPr/>
          <p:nvPr/>
        </p:nvCxnSpPr>
        <p:spPr>
          <a:xfrm flipV="1" rot="10800000">
            <a:off x="6771600" y="3663360"/>
            <a:ext cx="2823840" cy="1633320"/>
          </a:xfrm>
          <a:prstGeom prst="curvedConnector3">
            <a:avLst>
              <a:gd name="adj1" fmla="val 49993"/>
            </a:avLst>
          </a:prstGeom>
          <a:ln w="28575">
            <a:solidFill>
              <a:srgbClr val="3f3533"/>
            </a:solidFill>
            <a:round/>
          </a:ln>
        </p:spPr>
      </p:cxnSp>
      <p:sp>
        <p:nvSpPr>
          <p:cNvPr id="2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
    <p:bg>
      <p:bgPr>
        <a:solidFill>
          <a:schemeClr val="lt1"/>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2832840" y="791280"/>
            <a:ext cx="3477960" cy="922320"/>
          </a:xfrm>
          <a:prstGeom prst="rect">
            <a:avLst/>
          </a:prstGeom>
          <a:noFill/>
          <a:ln w="0">
            <a:noFill/>
          </a:ln>
        </p:spPr>
        <p:txBody>
          <a:bodyPr lIns="91440" rIns="91440" tIns="91440" bIns="91440" anchor="ctr">
            <a:noAutofit/>
          </a:bodyPr>
          <a:p>
            <a:pPr indent="0">
              <a:buNone/>
            </a:pPr>
            <a:r>
              <a:rPr b="0" lang="fr-FR" sz="7000" strike="noStrike" u="none">
                <a:solidFill>
                  <a:schemeClr val="dk1"/>
                </a:solidFill>
                <a:effectLst/>
                <a:uFillTx/>
                <a:latin typeface="Arial"/>
              </a:rPr>
              <a:t>Click to edit the title text format</a:t>
            </a:r>
            <a:endParaRPr b="0" lang="fr-FR" sz="7000" strike="noStrike" u="none">
              <a:solidFill>
                <a:schemeClr val="dk1"/>
              </a:solidFill>
              <a:effectLst/>
              <a:uFillTx/>
              <a:latin typeface="Arial"/>
            </a:endParaRPr>
          </a:p>
        </p:txBody>
      </p:sp>
      <p:sp>
        <p:nvSpPr>
          <p:cNvPr id="30" name="Google Shape;450;p50"/>
          <p:cNvSpPr/>
          <p:nvPr/>
        </p:nvSpPr>
        <p:spPr>
          <a:xfrm>
            <a:off x="2900520" y="3438360"/>
            <a:ext cx="3342960" cy="716400"/>
          </a:xfrm>
          <a:prstGeom prst="rect">
            <a:avLst/>
          </a:prstGeom>
          <a:noFill/>
          <a:ln w="0">
            <a:noFill/>
          </a:ln>
        </p:spPr>
        <p:style>
          <a:lnRef idx="0"/>
          <a:fillRef idx="0"/>
          <a:effectRef idx="0"/>
          <a:fontRef idx="minor"/>
        </p:style>
        <p:txBody>
          <a:bodyPr tIns="91440" bIns="91440" anchor="t">
            <a:noAutofit/>
          </a:bodyPr>
          <a:p>
            <a:pPr algn="ctr" defTabSz="914400">
              <a:lnSpc>
                <a:spcPct val="100000"/>
              </a:lnSpc>
              <a:tabLst>
                <a:tab algn="l" pos="0"/>
              </a:tabLst>
            </a:pPr>
            <a:r>
              <a:rPr b="1" lang="en" sz="1100" strike="noStrike" u="none">
                <a:solidFill>
                  <a:schemeClr val="dk2"/>
                </a:solidFill>
                <a:effectLst/>
                <a:uFillTx/>
                <a:latin typeface="Montserrat"/>
                <a:ea typeface="Montserrat"/>
              </a:rPr>
              <a:t>CREDITS</a:t>
            </a:r>
            <a:r>
              <a:rPr b="0" lang="en" sz="1100" strike="noStrike" u="none">
                <a:solidFill>
                  <a:schemeClr val="dk2"/>
                </a:solidFill>
                <a:effectLst/>
                <a:uFillTx/>
                <a:latin typeface="Montserrat"/>
                <a:ea typeface="Montserrat"/>
              </a:rPr>
              <a:t>: This presentation template was created by </a:t>
            </a:r>
            <a:r>
              <a:rPr b="1" lang="en" sz="1100" strike="noStrike" u="sng">
                <a:solidFill>
                  <a:schemeClr val="dk2"/>
                </a:solidFill>
                <a:effectLst/>
                <a:uFillTx/>
                <a:latin typeface="Montserrat"/>
                <a:ea typeface="Montserrat"/>
                <a:hlinkClick r:id="rId2"/>
              </a:rPr>
              <a:t>Slidesgo</a:t>
            </a:r>
            <a:r>
              <a:rPr b="0" lang="en" sz="1100" strike="noStrike" u="none">
                <a:solidFill>
                  <a:schemeClr val="dk2"/>
                </a:solidFill>
                <a:effectLst/>
                <a:uFillTx/>
                <a:latin typeface="Montserrat"/>
                <a:ea typeface="Montserrat"/>
              </a:rPr>
              <a:t>, including icons by </a:t>
            </a:r>
            <a:r>
              <a:rPr b="1" lang="en" sz="1100" strike="noStrike" u="sng">
                <a:solidFill>
                  <a:schemeClr val="dk2"/>
                </a:solidFill>
                <a:effectLst/>
                <a:uFillTx/>
                <a:latin typeface="Montserrat"/>
                <a:ea typeface="Montserrat"/>
                <a:hlinkClick r:id="rId3"/>
              </a:rPr>
              <a:t>Flaticon</a:t>
            </a:r>
            <a:r>
              <a:rPr b="0" lang="en" sz="1100" strike="noStrike" u="none">
                <a:solidFill>
                  <a:schemeClr val="dk2"/>
                </a:solidFill>
                <a:effectLst/>
                <a:uFillTx/>
                <a:latin typeface="Montserrat"/>
                <a:ea typeface="Montserrat"/>
              </a:rPr>
              <a:t>, infographics &amp; images by </a:t>
            </a:r>
            <a:r>
              <a:rPr b="1" lang="en" sz="1100" strike="noStrike" u="sng">
                <a:solidFill>
                  <a:schemeClr val="dk2"/>
                </a:solidFill>
                <a:effectLst/>
                <a:uFillTx/>
                <a:latin typeface="Montserrat"/>
                <a:ea typeface="Montserrat"/>
                <a:hlinkClick r:id="rId4"/>
              </a:rPr>
              <a:t>Freepik</a:t>
            </a:r>
            <a:endParaRPr b="0" lang="en-US" sz="1100" strike="noStrike" u="none">
              <a:solidFill>
                <a:srgbClr val="000000"/>
              </a:solidFill>
              <a:effectLst/>
              <a:uFillTx/>
              <a:latin typeface="OpenSymbol"/>
            </a:endParaRPr>
          </a:p>
        </p:txBody>
      </p:sp>
      <p:cxnSp>
        <p:nvCxnSpPr>
          <p:cNvPr id="31" name="Google Shape;451;p50"/>
          <p:cNvCxnSpPr/>
          <p:nvPr/>
        </p:nvCxnSpPr>
        <p:spPr>
          <a:xfrm>
            <a:off x="-72360" y="4877280"/>
            <a:ext cx="9287280" cy="360"/>
          </a:xfrm>
          <a:prstGeom prst="straightConnector1">
            <a:avLst/>
          </a:prstGeom>
          <a:ln w="28575">
            <a:solidFill>
              <a:srgbClr val="3f3533"/>
            </a:solidFill>
            <a:round/>
          </a:ln>
        </p:spPr>
      </p:cxnSp>
      <p:cxnSp>
        <p:nvCxnSpPr>
          <p:cNvPr id="32" name="Google Shape;452;p50"/>
          <p:cNvCxnSpPr/>
          <p:nvPr/>
        </p:nvCxnSpPr>
        <p:spPr>
          <a:xfrm>
            <a:off x="-257760" y="3935160"/>
            <a:ext cx="3047400" cy="1346760"/>
          </a:xfrm>
          <a:prstGeom prst="curvedConnector3">
            <a:avLst>
              <a:gd name="adj1" fmla="val 50000"/>
            </a:avLst>
          </a:prstGeom>
          <a:ln w="28575">
            <a:solidFill>
              <a:srgbClr val="3f3533"/>
            </a:solidFill>
            <a:round/>
          </a:ln>
        </p:spPr>
      </p:cxnSp>
      <p:cxnSp>
        <p:nvCxnSpPr>
          <p:cNvPr id="33" name="Google Shape;453;p50"/>
          <p:cNvCxnSpPr/>
          <p:nvPr/>
        </p:nvCxnSpPr>
        <p:spPr>
          <a:xfrm>
            <a:off x="-72360" y="273960"/>
            <a:ext cx="9287280" cy="360"/>
          </a:xfrm>
          <a:prstGeom prst="straightConnector1">
            <a:avLst/>
          </a:prstGeom>
          <a:ln w="28575">
            <a:solidFill>
              <a:srgbClr val="3f3533"/>
            </a:solidFill>
            <a:round/>
          </a:ln>
        </p:spPr>
      </p:cxnSp>
      <p:cxnSp>
        <p:nvCxnSpPr>
          <p:cNvPr id="34" name="Google Shape;454;p50"/>
          <p:cNvCxnSpPr/>
          <p:nvPr/>
        </p:nvCxnSpPr>
        <p:spPr>
          <a:xfrm>
            <a:off x="6467400" y="-72360"/>
            <a:ext cx="3047760" cy="1346400"/>
          </a:xfrm>
          <a:prstGeom prst="curvedConnector3">
            <a:avLst>
              <a:gd name="adj1" fmla="val 50005"/>
            </a:avLst>
          </a:prstGeom>
          <a:ln w="28575">
            <a:solidFill>
              <a:srgbClr val="3f3533"/>
            </a:solidFill>
            <a:round/>
          </a:ln>
        </p:spPr>
      </p:cxn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
          <p:cNvSpPr/>
          <p:nvPr/>
        </p:nvSpPr>
        <p:spPr>
          <a:xfrm>
            <a:off x="1038240" y="1324080"/>
            <a:ext cx="7067160" cy="761760"/>
          </a:xfrm>
          <a:prstGeom prst="rect">
            <a:avLst/>
          </a:prstGeom>
          <a:noFill/>
          <a:ln w="0">
            <a:noFill/>
          </a:ln>
        </p:spPr>
        <p:style>
          <a:lnRef idx="0"/>
          <a:fillRef idx="0"/>
          <a:effectRef idx="0"/>
          <a:fontRef idx="minor"/>
        </p:style>
        <p:txBody>
          <a:bodyPr anchor="b">
            <a:normAutofit fontScale="85000" lnSpcReduction="19999"/>
          </a:bodyPr>
          <a:p>
            <a:pPr algn="ctr" defTabSz="914400">
              <a:lnSpc>
                <a:spcPct val="100000"/>
              </a:lnSpc>
              <a:tabLst>
                <a:tab algn="l" pos="0"/>
              </a:tabLst>
            </a:pPr>
            <a:r>
              <a:rPr b="0" lang="en-US" sz="6000" strike="noStrike" u="none">
                <a:solidFill>
                  <a:srgbClr val="000000"/>
                </a:solidFill>
                <a:effectLst/>
                <a:uFillTx/>
                <a:latin typeface="Vidaloka"/>
              </a:rPr>
              <a:t>Schedule Planner</a:t>
            </a:r>
            <a:endParaRPr b="0" lang="en-US" sz="6000" strike="noStrike" u="none">
              <a:solidFill>
                <a:srgbClr val="000000"/>
              </a:solidFill>
              <a:effectLst/>
              <a:uFillTx/>
              <a:latin typeface="OpenSymbol"/>
            </a:endParaRPr>
          </a:p>
        </p:txBody>
      </p:sp>
      <p:sp>
        <p:nvSpPr>
          <p:cNvPr id="36" name=""/>
          <p:cNvSpPr/>
          <p:nvPr/>
        </p:nvSpPr>
        <p:spPr>
          <a:xfrm>
            <a:off x="1038240" y="3381480"/>
            <a:ext cx="7067160" cy="456840"/>
          </a:xfrm>
          <a:prstGeom prst="rect">
            <a:avLst/>
          </a:prstGeom>
          <a:noFill/>
          <a:ln w="0">
            <a:noFill/>
          </a:ln>
        </p:spPr>
        <p:style>
          <a:lnRef idx="0"/>
          <a:fillRef idx="0"/>
          <a:effectRef idx="0"/>
          <a:fontRef idx="minor"/>
        </p:style>
        <p:txBody>
          <a:bodyPr anchor="t">
            <a:normAutofit/>
          </a:bodyPr>
          <a:p>
            <a:pPr algn="ctr" defTabSz="914400">
              <a:lnSpc>
                <a:spcPct val="150000"/>
              </a:lnSpc>
              <a:tabLst>
                <a:tab algn="l" pos="0"/>
              </a:tabLst>
            </a:pPr>
            <a:r>
              <a:rPr b="0" lang="en-US" sz="1600" strike="noStrike" u="none">
                <a:solidFill>
                  <a:srgbClr val="000000"/>
                </a:solidFill>
                <a:effectLst/>
                <a:uFillTx/>
                <a:latin typeface="Montserrat"/>
              </a:rPr>
              <a:t>Build • Compare • Share — Fall 2026 student tool</a:t>
            </a:r>
            <a:endParaRPr b="0" lang="en-US" sz="1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
          <p:cNvSpPr/>
          <p:nvPr/>
        </p:nvSpPr>
        <p:spPr>
          <a:xfrm>
            <a:off x="2647800" y="1685880"/>
            <a:ext cx="3847680" cy="201888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400" strike="noStrike" u="none">
                <a:solidFill>
                  <a:srgbClr val="000000"/>
                </a:solidFill>
                <a:effectLst/>
                <a:uFillTx/>
                <a:latin typeface="Montserrat"/>
              </a:rPr>
              <a:t>Fall 2026 Planner is a premium, student-built web app for creating Fall term schedules. Build • Compare • Share. STUDENT-BUILT. A smarter way to build, compare, and share university schedules. Leave space for a live screenshot, URL, and QR code.</a:t>
            </a:r>
            <a:endParaRPr b="0" lang="en-US" sz="1400" strike="noStrike" u="none">
              <a:solidFill>
                <a:srgbClr val="000000"/>
              </a:solidFill>
              <a:effectLst/>
              <a:uFillTx/>
              <a:latin typeface="OpenSymbol"/>
            </a:endParaRPr>
          </a:p>
        </p:txBody>
      </p:sp>
      <p:sp>
        <p:nvSpPr>
          <p:cNvPr id="38" name=""/>
          <p:cNvSpPr/>
          <p:nvPr/>
        </p:nvSpPr>
        <p:spPr>
          <a:xfrm>
            <a:off x="1733400" y="447840"/>
            <a:ext cx="5676480" cy="380520"/>
          </a:xfrm>
          <a:prstGeom prst="rect">
            <a:avLst/>
          </a:prstGeom>
          <a:noFill/>
          <a:ln w="0">
            <a:noFill/>
          </a:ln>
        </p:spPr>
        <p:style>
          <a:lnRef idx="0"/>
          <a:fillRef idx="0"/>
          <a:effectRef idx="0"/>
          <a:fontRef idx="minor"/>
        </p:style>
        <p:txBody>
          <a:bodyPr anchor="t">
            <a:normAutofit fontScale="77500" lnSpcReduction="19999"/>
          </a:bodyPr>
          <a:p>
            <a:pPr algn="ctr" defTabSz="914400">
              <a:lnSpc>
                <a:spcPct val="100000"/>
              </a:lnSpc>
              <a:tabLst>
                <a:tab algn="l" pos="0"/>
              </a:tabLst>
            </a:pPr>
            <a:r>
              <a:rPr b="0" lang="en-US" sz="3000" strike="noStrike" u="none">
                <a:solidFill>
                  <a:srgbClr val="000000"/>
                </a:solidFill>
                <a:effectLst/>
                <a:uFillTx/>
                <a:latin typeface="Vidaloka"/>
              </a:rPr>
              <a:t>Fall 2026 Planner</a:t>
            </a:r>
            <a:endParaRPr b="0" lang="en-US" sz="30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 name="Google Shape;554;p66" descr=""/>
          <p:cNvPicPr/>
          <p:nvPr/>
        </p:nvPicPr>
        <p:blipFill>
          <a:blip r:embed="rId1"/>
          <a:stretch/>
        </p:blipFill>
        <p:spPr>
          <a:xfrm>
            <a:off x="5591160" y="1590840"/>
            <a:ext cx="2533320" cy="2552400"/>
          </a:xfrm>
          <a:prstGeom prst="rect">
            <a:avLst/>
          </a:prstGeom>
          <a:noFill/>
          <a:ln w="28575">
            <a:solidFill>
              <a:srgbClr val="3f3533"/>
            </a:solidFill>
            <a:round/>
          </a:ln>
        </p:spPr>
      </p:pic>
      <p:sp>
        <p:nvSpPr>
          <p:cNvPr id="40" name=""/>
          <p:cNvSpPr/>
          <p:nvPr/>
        </p:nvSpPr>
        <p:spPr>
          <a:xfrm>
            <a:off x="895320" y="1685880"/>
            <a:ext cx="3847680" cy="255240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400" strike="noStrike" u="none">
                <a:solidFill>
                  <a:srgbClr val="000000"/>
                </a:solidFill>
                <a:effectLst/>
                <a:uFillTx/>
                <a:latin typeface="Montserrat"/>
              </a:rPr>
              <a:t>Students juggle dozens of lecture, lab, and tutorial options, creating hundreds of possible combinations. Conflicts appear frequently, and comparing sections or instructors is slow and error-prone. Cross-year courses are hard to browse, while manual planning requires repeated checks across pages and calendars.</a:t>
            </a:r>
            <a:endParaRPr b="0" lang="en-US" sz="1400" strike="noStrike" u="none">
              <a:solidFill>
                <a:srgbClr val="000000"/>
              </a:solidFill>
              <a:effectLst/>
              <a:uFillTx/>
              <a:latin typeface="OpenSymbol"/>
            </a:endParaRPr>
          </a:p>
        </p:txBody>
      </p:sp>
      <p:sp>
        <p:nvSpPr>
          <p:cNvPr id="41" name=""/>
          <p:cNvSpPr/>
          <p:nvPr/>
        </p:nvSpPr>
        <p:spPr>
          <a:xfrm>
            <a:off x="714240" y="447840"/>
            <a:ext cx="5676480" cy="380520"/>
          </a:xfrm>
          <a:prstGeom prst="rect">
            <a:avLst/>
          </a:prstGeom>
          <a:noFill/>
          <a:ln w="0">
            <a:noFill/>
          </a:ln>
        </p:spPr>
        <p:style>
          <a:lnRef idx="0"/>
          <a:fillRef idx="0"/>
          <a:effectRef idx="0"/>
          <a:fontRef idx="minor"/>
        </p:style>
        <p:txBody>
          <a:bodyPr anchor="t">
            <a:normAutofit fontScale="77500" lnSpcReduction="19999"/>
          </a:bodyPr>
          <a:p>
            <a:pPr defTabSz="914400">
              <a:lnSpc>
                <a:spcPct val="100000"/>
              </a:lnSpc>
              <a:tabLst>
                <a:tab algn="l" pos="0"/>
              </a:tabLst>
            </a:pPr>
            <a:r>
              <a:rPr b="0" lang="en-US" sz="3000" strike="noStrike" u="none">
                <a:solidFill>
                  <a:srgbClr val="000000"/>
                </a:solidFill>
                <a:effectLst/>
                <a:uFillTx/>
                <a:latin typeface="Vidaloka"/>
              </a:rPr>
              <a:t>Fragmented Scheduling</a:t>
            </a:r>
            <a:endParaRPr b="0" lang="en-US" sz="30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
          <p:cNvSpPr/>
          <p:nvPr/>
        </p:nvSpPr>
        <p:spPr>
          <a:xfrm>
            <a:off x="819000" y="1943280"/>
            <a:ext cx="2285640" cy="249516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43" name=""/>
          <p:cNvSpPr/>
          <p:nvPr/>
        </p:nvSpPr>
        <p:spPr>
          <a:xfrm>
            <a:off x="3314880" y="1943280"/>
            <a:ext cx="2285640" cy="249516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44" name=""/>
          <p:cNvSpPr/>
          <p:nvPr/>
        </p:nvSpPr>
        <p:spPr>
          <a:xfrm>
            <a:off x="5810400" y="1943280"/>
            <a:ext cx="2285640" cy="249516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45" name=""/>
          <p:cNvSpPr/>
          <p:nvPr/>
        </p:nvSpPr>
        <p:spPr>
          <a:xfrm>
            <a:off x="819000" y="628560"/>
            <a:ext cx="750528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0" lang="en-US" sz="2600" strike="noStrike" u="none">
                <a:solidFill>
                  <a:srgbClr val="000000"/>
                </a:solidFill>
                <a:effectLst/>
                <a:uFillTx/>
                <a:latin typeface="Vidaloka"/>
              </a:rPr>
              <a:t>Unified Planner</a:t>
            </a:r>
            <a:endParaRPr b="0" lang="en-US" sz="2600" strike="noStrike" u="none">
              <a:solidFill>
                <a:srgbClr val="000000"/>
              </a:solidFill>
              <a:effectLst/>
              <a:uFillTx/>
              <a:latin typeface="OpenSymbol"/>
            </a:endParaRPr>
          </a:p>
        </p:txBody>
      </p:sp>
      <p:sp>
        <p:nvSpPr>
          <p:cNvPr id="46" name=""/>
          <p:cNvSpPr/>
          <p:nvPr/>
        </p:nvSpPr>
        <p:spPr>
          <a:xfrm>
            <a:off x="819000" y="1390680"/>
            <a:ext cx="228564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000000"/>
                </a:solidFill>
                <a:effectLst/>
                <a:uFillTx/>
                <a:latin typeface="Vidaloka"/>
              </a:rPr>
              <a:t>01</a:t>
            </a:r>
            <a:endParaRPr b="0" lang="en-US" sz="2400" strike="noStrike" u="none">
              <a:solidFill>
                <a:srgbClr val="000000"/>
              </a:solidFill>
              <a:effectLst/>
              <a:uFillTx/>
              <a:latin typeface="OpenSymbol"/>
            </a:endParaRPr>
          </a:p>
        </p:txBody>
      </p:sp>
      <p:sp>
        <p:nvSpPr>
          <p:cNvPr id="47" name=""/>
          <p:cNvSpPr/>
          <p:nvPr/>
        </p:nvSpPr>
        <p:spPr>
          <a:xfrm>
            <a:off x="990720" y="2181240"/>
            <a:ext cx="194292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f5f2ee"/>
                </a:solidFill>
                <a:effectLst/>
                <a:uFillTx/>
                <a:latin typeface="Vidaloka"/>
              </a:rPr>
              <a:t>Choose Major/Year</a:t>
            </a:r>
            <a:endParaRPr b="0" lang="en-US" sz="1800" strike="noStrike" u="none">
              <a:solidFill>
                <a:srgbClr val="000000"/>
              </a:solidFill>
              <a:effectLst/>
              <a:uFillTx/>
              <a:latin typeface="OpenSymbol"/>
            </a:endParaRPr>
          </a:p>
        </p:txBody>
      </p:sp>
      <p:sp>
        <p:nvSpPr>
          <p:cNvPr id="48" name=""/>
          <p:cNvSpPr/>
          <p:nvPr/>
        </p:nvSpPr>
        <p:spPr>
          <a:xfrm>
            <a:off x="990720" y="2657520"/>
            <a:ext cx="194292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5f2ee"/>
                </a:solidFill>
                <a:effectLst/>
                <a:uFillTx/>
                <a:latin typeface="Montserrat"/>
              </a:rPr>
              <a:t>Set your program context to tailor course options.</a:t>
            </a:r>
            <a:endParaRPr b="0" lang="en-US" sz="1200" strike="noStrike" u="none">
              <a:solidFill>
                <a:srgbClr val="000000"/>
              </a:solidFill>
              <a:effectLst/>
              <a:uFillTx/>
              <a:latin typeface="OpenSymbol"/>
            </a:endParaRPr>
          </a:p>
        </p:txBody>
      </p:sp>
      <p:sp>
        <p:nvSpPr>
          <p:cNvPr id="49" name=""/>
          <p:cNvSpPr/>
          <p:nvPr/>
        </p:nvSpPr>
        <p:spPr>
          <a:xfrm>
            <a:off x="3314880" y="1390680"/>
            <a:ext cx="228564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000000"/>
                </a:solidFill>
                <a:effectLst/>
                <a:uFillTx/>
                <a:latin typeface="Vidaloka"/>
              </a:rPr>
              <a:t>02</a:t>
            </a:r>
            <a:endParaRPr b="0" lang="en-US" sz="2400" strike="noStrike" u="none">
              <a:solidFill>
                <a:srgbClr val="000000"/>
              </a:solidFill>
              <a:effectLst/>
              <a:uFillTx/>
              <a:latin typeface="OpenSymbol"/>
            </a:endParaRPr>
          </a:p>
        </p:txBody>
      </p:sp>
      <p:sp>
        <p:nvSpPr>
          <p:cNvPr id="50" name=""/>
          <p:cNvSpPr/>
          <p:nvPr/>
        </p:nvSpPr>
        <p:spPr>
          <a:xfrm>
            <a:off x="3486240" y="2181240"/>
            <a:ext cx="194292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f5f2ee"/>
                </a:solidFill>
                <a:effectLst/>
                <a:uFillTx/>
                <a:latin typeface="Vidaloka"/>
              </a:rPr>
              <a:t>Pick Courses</a:t>
            </a:r>
            <a:endParaRPr b="0" lang="en-US" sz="1800" strike="noStrike" u="none">
              <a:solidFill>
                <a:srgbClr val="000000"/>
              </a:solidFill>
              <a:effectLst/>
              <a:uFillTx/>
              <a:latin typeface="OpenSymbol"/>
            </a:endParaRPr>
          </a:p>
        </p:txBody>
      </p:sp>
      <p:sp>
        <p:nvSpPr>
          <p:cNvPr id="51" name=""/>
          <p:cNvSpPr/>
          <p:nvPr/>
        </p:nvSpPr>
        <p:spPr>
          <a:xfrm>
            <a:off x="3486240" y="2657520"/>
            <a:ext cx="1942920" cy="8856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5f2ee"/>
                </a:solidFill>
                <a:effectLst/>
                <a:uFillTx/>
                <a:latin typeface="Montserrat"/>
              </a:rPr>
              <a:t>Select courses and sections (lectures, labs, tutorials, instructors).</a:t>
            </a:r>
            <a:endParaRPr b="0" lang="en-US" sz="1200" strike="noStrike" u="none">
              <a:solidFill>
                <a:srgbClr val="000000"/>
              </a:solidFill>
              <a:effectLst/>
              <a:uFillTx/>
              <a:latin typeface="OpenSymbol"/>
            </a:endParaRPr>
          </a:p>
        </p:txBody>
      </p:sp>
      <p:sp>
        <p:nvSpPr>
          <p:cNvPr id="52" name=""/>
          <p:cNvSpPr/>
          <p:nvPr/>
        </p:nvSpPr>
        <p:spPr>
          <a:xfrm>
            <a:off x="5810400" y="1390680"/>
            <a:ext cx="228564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000000"/>
                </a:solidFill>
                <a:effectLst/>
                <a:uFillTx/>
                <a:latin typeface="Vidaloka"/>
              </a:rPr>
              <a:t>03</a:t>
            </a:r>
            <a:endParaRPr b="0" lang="en-US" sz="2400" strike="noStrike" u="none">
              <a:solidFill>
                <a:srgbClr val="000000"/>
              </a:solidFill>
              <a:effectLst/>
              <a:uFillTx/>
              <a:latin typeface="OpenSymbol"/>
            </a:endParaRPr>
          </a:p>
        </p:txBody>
      </p:sp>
      <p:sp>
        <p:nvSpPr>
          <p:cNvPr id="53" name=""/>
          <p:cNvSpPr/>
          <p:nvPr/>
        </p:nvSpPr>
        <p:spPr>
          <a:xfrm>
            <a:off x="5991120" y="2181240"/>
            <a:ext cx="193320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f5f2ee"/>
                </a:solidFill>
                <a:effectLst/>
                <a:uFillTx/>
                <a:latin typeface="Vidaloka"/>
              </a:rPr>
              <a:t>System Validates</a:t>
            </a:r>
            <a:endParaRPr b="0" lang="en-US" sz="1800" strike="noStrike" u="none">
              <a:solidFill>
                <a:srgbClr val="000000"/>
              </a:solidFill>
              <a:effectLst/>
              <a:uFillTx/>
              <a:latin typeface="OpenSymbol"/>
            </a:endParaRPr>
          </a:p>
        </p:txBody>
      </p:sp>
      <p:sp>
        <p:nvSpPr>
          <p:cNvPr id="54" name=""/>
          <p:cNvSpPr/>
          <p:nvPr/>
        </p:nvSpPr>
        <p:spPr>
          <a:xfrm>
            <a:off x="5991120" y="2657520"/>
            <a:ext cx="193320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5f2ee"/>
                </a:solidFill>
                <a:effectLst/>
                <a:uFillTx/>
                <a:latin typeface="Montserrat"/>
              </a:rPr>
              <a:t>The planner disables invalid combos in real time.</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
          <p:cNvSpPr/>
          <p:nvPr/>
        </p:nvSpPr>
        <p:spPr>
          <a:xfrm>
            <a:off x="1962000" y="2152800"/>
            <a:ext cx="104400" cy="9000"/>
          </a:xfrm>
          <a:prstGeom prst="roundRect">
            <a:avLst>
              <a:gd name="adj" fmla="val 16667"/>
            </a:avLst>
          </a:prstGeom>
          <a:solidFill>
            <a:srgbClr val="3f3533"/>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6" name=""/>
          <p:cNvSpPr/>
          <p:nvPr/>
        </p:nvSpPr>
        <p:spPr>
          <a:xfrm>
            <a:off x="3209760" y="2152800"/>
            <a:ext cx="104400" cy="9000"/>
          </a:xfrm>
          <a:prstGeom prst="roundRect">
            <a:avLst>
              <a:gd name="adj" fmla="val 16667"/>
            </a:avLst>
          </a:prstGeom>
          <a:solidFill>
            <a:srgbClr val="3f3533"/>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7" name=""/>
          <p:cNvSpPr/>
          <p:nvPr/>
        </p:nvSpPr>
        <p:spPr>
          <a:xfrm>
            <a:off x="4457880" y="2152800"/>
            <a:ext cx="104400" cy="9000"/>
          </a:xfrm>
          <a:prstGeom prst="roundRect">
            <a:avLst>
              <a:gd name="adj" fmla="val 16667"/>
            </a:avLst>
          </a:prstGeom>
          <a:solidFill>
            <a:srgbClr val="3f3533"/>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8" name=""/>
          <p:cNvSpPr/>
          <p:nvPr/>
        </p:nvSpPr>
        <p:spPr>
          <a:xfrm>
            <a:off x="5705640" y="2152800"/>
            <a:ext cx="104400" cy="9000"/>
          </a:xfrm>
          <a:prstGeom prst="roundRect">
            <a:avLst>
              <a:gd name="adj" fmla="val 16667"/>
            </a:avLst>
          </a:prstGeom>
          <a:solidFill>
            <a:srgbClr val="3f3533"/>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9" name=""/>
          <p:cNvSpPr/>
          <p:nvPr/>
        </p:nvSpPr>
        <p:spPr>
          <a:xfrm>
            <a:off x="6953400" y="2152800"/>
            <a:ext cx="104400" cy="9000"/>
          </a:xfrm>
          <a:prstGeom prst="roundRect">
            <a:avLst>
              <a:gd name="adj" fmla="val 16667"/>
            </a:avLst>
          </a:prstGeom>
          <a:solidFill>
            <a:srgbClr val="3f3533"/>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60" name=""/>
          <p:cNvSpPr/>
          <p:nvPr/>
        </p:nvSpPr>
        <p:spPr>
          <a:xfrm>
            <a:off x="819000" y="2066760"/>
            <a:ext cx="1142640" cy="18072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61" name=""/>
          <p:cNvSpPr/>
          <p:nvPr/>
        </p:nvSpPr>
        <p:spPr>
          <a:xfrm>
            <a:off x="1380960" y="2247840"/>
            <a:ext cx="9000" cy="28548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62" name=""/>
          <p:cNvSpPr/>
          <p:nvPr/>
        </p:nvSpPr>
        <p:spPr>
          <a:xfrm>
            <a:off x="2066760" y="2066760"/>
            <a:ext cx="1142640" cy="18072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63" name=""/>
          <p:cNvSpPr/>
          <p:nvPr/>
        </p:nvSpPr>
        <p:spPr>
          <a:xfrm>
            <a:off x="2638440" y="2247840"/>
            <a:ext cx="9000" cy="28548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64" name=""/>
          <p:cNvSpPr/>
          <p:nvPr/>
        </p:nvSpPr>
        <p:spPr>
          <a:xfrm>
            <a:off x="3314880" y="2066760"/>
            <a:ext cx="1142640" cy="18072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65" name=""/>
          <p:cNvSpPr/>
          <p:nvPr/>
        </p:nvSpPr>
        <p:spPr>
          <a:xfrm>
            <a:off x="3886200" y="2247840"/>
            <a:ext cx="9000" cy="28548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66" name=""/>
          <p:cNvSpPr/>
          <p:nvPr/>
        </p:nvSpPr>
        <p:spPr>
          <a:xfrm>
            <a:off x="4562640" y="2066760"/>
            <a:ext cx="1142640" cy="18072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67" name=""/>
          <p:cNvSpPr/>
          <p:nvPr/>
        </p:nvSpPr>
        <p:spPr>
          <a:xfrm>
            <a:off x="5133960" y="2247840"/>
            <a:ext cx="9000" cy="28548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68" name=""/>
          <p:cNvSpPr/>
          <p:nvPr/>
        </p:nvSpPr>
        <p:spPr>
          <a:xfrm>
            <a:off x="5810400" y="2066760"/>
            <a:ext cx="1142640" cy="18072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69" name=""/>
          <p:cNvSpPr/>
          <p:nvPr/>
        </p:nvSpPr>
        <p:spPr>
          <a:xfrm>
            <a:off x="6381720" y="2247840"/>
            <a:ext cx="9000" cy="28548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0" name=""/>
          <p:cNvSpPr/>
          <p:nvPr/>
        </p:nvSpPr>
        <p:spPr>
          <a:xfrm>
            <a:off x="7058160" y="2066760"/>
            <a:ext cx="1142640" cy="18072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1" name=""/>
          <p:cNvSpPr/>
          <p:nvPr/>
        </p:nvSpPr>
        <p:spPr>
          <a:xfrm>
            <a:off x="7629480" y="2247840"/>
            <a:ext cx="9000" cy="28548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2" name=""/>
          <p:cNvSpPr/>
          <p:nvPr/>
        </p:nvSpPr>
        <p:spPr>
          <a:xfrm>
            <a:off x="819000" y="628560"/>
            <a:ext cx="750528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0" lang="en-US" sz="2600" strike="noStrike" u="none">
                <a:solidFill>
                  <a:srgbClr val="000000"/>
                </a:solidFill>
                <a:effectLst/>
                <a:uFillTx/>
                <a:latin typeface="Vidaloka"/>
              </a:rPr>
              <a:t>Workflow Flow</a:t>
            </a:r>
            <a:endParaRPr b="0" lang="en-US" sz="2600" strike="noStrike" u="none">
              <a:solidFill>
                <a:srgbClr val="000000"/>
              </a:solidFill>
              <a:effectLst/>
              <a:uFillTx/>
              <a:latin typeface="OpenSymbol"/>
            </a:endParaRPr>
          </a:p>
        </p:txBody>
      </p:sp>
      <p:sp>
        <p:nvSpPr>
          <p:cNvPr id="73" name=""/>
          <p:cNvSpPr/>
          <p:nvPr/>
        </p:nvSpPr>
        <p:spPr>
          <a:xfrm>
            <a:off x="819000" y="1371600"/>
            <a:ext cx="1142640" cy="5806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000000"/>
                </a:solidFill>
                <a:effectLst/>
                <a:uFillTx/>
                <a:latin typeface="Vidaloka"/>
              </a:rPr>
              <a:t>Major &amp; Year</a:t>
            </a:r>
            <a:endParaRPr b="0" lang="en-US" sz="1400" strike="noStrike" u="none">
              <a:solidFill>
                <a:srgbClr val="000000"/>
              </a:solidFill>
              <a:effectLst/>
              <a:uFillTx/>
              <a:latin typeface="OpenSymbol"/>
            </a:endParaRPr>
          </a:p>
        </p:txBody>
      </p:sp>
      <p:sp>
        <p:nvSpPr>
          <p:cNvPr id="74" name=""/>
          <p:cNvSpPr/>
          <p:nvPr/>
        </p:nvSpPr>
        <p:spPr>
          <a:xfrm>
            <a:off x="819000" y="2610000"/>
            <a:ext cx="1142640" cy="161892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000000"/>
                </a:solidFill>
                <a:effectLst/>
                <a:uFillTx/>
                <a:latin typeface="Montserrat"/>
              </a:rPr>
              <a:t>Choose your degree program and current year to tailor the catalog.</a:t>
            </a:r>
            <a:endParaRPr b="0" lang="en-US" sz="1200" strike="noStrike" u="none">
              <a:solidFill>
                <a:srgbClr val="000000"/>
              </a:solidFill>
              <a:effectLst/>
              <a:uFillTx/>
              <a:latin typeface="OpenSymbol"/>
            </a:endParaRPr>
          </a:p>
        </p:txBody>
      </p:sp>
      <p:sp>
        <p:nvSpPr>
          <p:cNvPr id="75" name=""/>
          <p:cNvSpPr/>
          <p:nvPr/>
        </p:nvSpPr>
        <p:spPr>
          <a:xfrm>
            <a:off x="2066760" y="1371600"/>
            <a:ext cx="1142640" cy="5806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000000"/>
                </a:solidFill>
                <a:effectLst/>
                <a:uFillTx/>
                <a:latin typeface="Vidaloka"/>
              </a:rPr>
              <a:t>Browse Courses</a:t>
            </a:r>
            <a:endParaRPr b="0" lang="en-US" sz="1400" strike="noStrike" u="none">
              <a:solidFill>
                <a:srgbClr val="000000"/>
              </a:solidFill>
              <a:effectLst/>
              <a:uFillTx/>
              <a:latin typeface="OpenSymbol"/>
            </a:endParaRPr>
          </a:p>
        </p:txBody>
      </p:sp>
      <p:sp>
        <p:nvSpPr>
          <p:cNvPr id="76" name=""/>
          <p:cNvSpPr/>
          <p:nvPr/>
        </p:nvSpPr>
        <p:spPr>
          <a:xfrm>
            <a:off x="2066760" y="2610000"/>
            <a:ext cx="1142640" cy="106632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000000"/>
                </a:solidFill>
                <a:effectLst/>
                <a:uFillTx/>
                <a:latin typeface="Montserrat"/>
              </a:rPr>
              <a:t>Explore with filters and find compatible courses.</a:t>
            </a:r>
            <a:endParaRPr b="0" lang="en-US" sz="1200" strike="noStrike" u="none">
              <a:solidFill>
                <a:srgbClr val="000000"/>
              </a:solidFill>
              <a:effectLst/>
              <a:uFillTx/>
              <a:latin typeface="OpenSymbol"/>
            </a:endParaRPr>
          </a:p>
        </p:txBody>
      </p:sp>
      <p:sp>
        <p:nvSpPr>
          <p:cNvPr id="77" name=""/>
          <p:cNvSpPr/>
          <p:nvPr/>
        </p:nvSpPr>
        <p:spPr>
          <a:xfrm>
            <a:off x="3314880" y="1371600"/>
            <a:ext cx="1142640" cy="5806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000000"/>
                </a:solidFill>
                <a:effectLst/>
                <a:uFillTx/>
                <a:latin typeface="Vidaloka"/>
              </a:rPr>
              <a:t>Pick Sections</a:t>
            </a:r>
            <a:endParaRPr b="0" lang="en-US" sz="1400" strike="noStrike" u="none">
              <a:solidFill>
                <a:srgbClr val="000000"/>
              </a:solidFill>
              <a:effectLst/>
              <a:uFillTx/>
              <a:latin typeface="OpenSymbol"/>
            </a:endParaRPr>
          </a:p>
        </p:txBody>
      </p:sp>
      <p:sp>
        <p:nvSpPr>
          <p:cNvPr id="78" name=""/>
          <p:cNvSpPr/>
          <p:nvPr/>
        </p:nvSpPr>
        <p:spPr>
          <a:xfrm>
            <a:off x="3314880" y="2610000"/>
            <a:ext cx="1142640" cy="124740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000000"/>
                </a:solidFill>
                <a:effectLst/>
                <a:uFillTx/>
                <a:latin typeface="Montserrat"/>
              </a:rPr>
              <a:t>Select meeting times and sections that fit your plan.</a:t>
            </a:r>
            <a:endParaRPr b="0" lang="en-US" sz="1200" strike="noStrike" u="none">
              <a:solidFill>
                <a:srgbClr val="000000"/>
              </a:solidFill>
              <a:effectLst/>
              <a:uFillTx/>
              <a:latin typeface="OpenSymbol"/>
            </a:endParaRPr>
          </a:p>
        </p:txBody>
      </p:sp>
      <p:sp>
        <p:nvSpPr>
          <p:cNvPr id="79" name=""/>
          <p:cNvSpPr/>
          <p:nvPr/>
        </p:nvSpPr>
        <p:spPr>
          <a:xfrm>
            <a:off x="4562640" y="1371600"/>
            <a:ext cx="1142640" cy="5806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000000"/>
                </a:solidFill>
                <a:effectLst/>
                <a:uFillTx/>
                <a:latin typeface="Vidaloka"/>
              </a:rPr>
              <a:t>Detect Conflicts</a:t>
            </a:r>
            <a:endParaRPr b="0" lang="en-US" sz="1400" strike="noStrike" u="none">
              <a:solidFill>
                <a:srgbClr val="000000"/>
              </a:solidFill>
              <a:effectLst/>
              <a:uFillTx/>
              <a:latin typeface="OpenSymbol"/>
            </a:endParaRPr>
          </a:p>
        </p:txBody>
      </p:sp>
      <p:sp>
        <p:nvSpPr>
          <p:cNvPr id="80" name=""/>
          <p:cNvSpPr/>
          <p:nvPr/>
        </p:nvSpPr>
        <p:spPr>
          <a:xfrm>
            <a:off x="4562640" y="2610000"/>
            <a:ext cx="1142640" cy="124740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000000"/>
                </a:solidFill>
                <a:effectLst/>
                <a:uFillTx/>
                <a:latin typeface="Montserrat"/>
              </a:rPr>
              <a:t>The planner flags overlaps before you proceed.</a:t>
            </a:r>
            <a:endParaRPr b="0" lang="en-US" sz="1200" strike="noStrike" u="none">
              <a:solidFill>
                <a:srgbClr val="000000"/>
              </a:solidFill>
              <a:effectLst/>
              <a:uFillTx/>
              <a:latin typeface="OpenSymbol"/>
            </a:endParaRPr>
          </a:p>
        </p:txBody>
      </p:sp>
      <p:sp>
        <p:nvSpPr>
          <p:cNvPr id="81" name=""/>
          <p:cNvSpPr/>
          <p:nvPr/>
        </p:nvSpPr>
        <p:spPr>
          <a:xfrm>
            <a:off x="5810400" y="1371600"/>
            <a:ext cx="1142640" cy="5806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000000"/>
                </a:solidFill>
                <a:effectLst/>
                <a:uFillTx/>
                <a:latin typeface="Vidaloka"/>
              </a:rPr>
              <a:t>Set Preferences</a:t>
            </a:r>
            <a:endParaRPr b="0" lang="en-US" sz="1400" strike="noStrike" u="none">
              <a:solidFill>
                <a:srgbClr val="000000"/>
              </a:solidFill>
              <a:effectLst/>
              <a:uFillTx/>
              <a:latin typeface="OpenSymbol"/>
            </a:endParaRPr>
          </a:p>
        </p:txBody>
      </p:sp>
      <p:sp>
        <p:nvSpPr>
          <p:cNvPr id="82" name=""/>
          <p:cNvSpPr/>
          <p:nvPr/>
        </p:nvSpPr>
        <p:spPr>
          <a:xfrm>
            <a:off x="5810400" y="2610000"/>
            <a:ext cx="1142640" cy="14284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000000"/>
                </a:solidFill>
                <a:effectLst/>
                <a:uFillTx/>
                <a:latin typeface="Montserrat"/>
              </a:rPr>
              <a:t>Prioritize work, lab, or elective goals to influence suggestions.</a:t>
            </a:r>
            <a:endParaRPr b="0" lang="en-US" sz="1200" strike="noStrike" u="none">
              <a:solidFill>
                <a:srgbClr val="000000"/>
              </a:solidFill>
              <a:effectLst/>
              <a:uFillTx/>
              <a:latin typeface="OpenSymbol"/>
            </a:endParaRPr>
          </a:p>
        </p:txBody>
      </p:sp>
      <p:sp>
        <p:nvSpPr>
          <p:cNvPr id="83" name=""/>
          <p:cNvSpPr/>
          <p:nvPr/>
        </p:nvSpPr>
        <p:spPr>
          <a:xfrm>
            <a:off x="7058160" y="1371600"/>
            <a:ext cx="1142640" cy="5806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000000"/>
                </a:solidFill>
                <a:effectLst/>
                <a:uFillTx/>
                <a:latin typeface="Vidaloka"/>
              </a:rPr>
              <a:t>Build &amp; Share</a:t>
            </a:r>
            <a:endParaRPr b="0" lang="en-US" sz="1400" strike="noStrike" u="none">
              <a:solidFill>
                <a:srgbClr val="000000"/>
              </a:solidFill>
              <a:effectLst/>
              <a:uFillTx/>
              <a:latin typeface="OpenSymbol"/>
            </a:endParaRPr>
          </a:p>
        </p:txBody>
      </p:sp>
      <p:sp>
        <p:nvSpPr>
          <p:cNvPr id="84" name=""/>
          <p:cNvSpPr/>
          <p:nvPr/>
        </p:nvSpPr>
        <p:spPr>
          <a:xfrm>
            <a:off x="7058160" y="2610000"/>
            <a:ext cx="1142640" cy="124740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000000"/>
                </a:solidFill>
                <a:effectLst/>
                <a:uFillTx/>
                <a:latin typeface="Montserrat"/>
              </a:rPr>
              <a:t>Generate a shareable schedule link for advisors or teammates.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
          <p:cNvSpPr/>
          <p:nvPr/>
        </p:nvSpPr>
        <p:spPr>
          <a:xfrm>
            <a:off x="819000" y="628560"/>
            <a:ext cx="75052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000000"/>
                </a:solidFill>
                <a:effectLst/>
                <a:uFillTx/>
                <a:latin typeface="Vidaloka"/>
              </a:rPr>
              <a:t>Conflicts Detected Automatically</a:t>
            </a:r>
            <a:endParaRPr b="0" lang="en-US" sz="2400" strike="noStrike" u="none">
              <a:solidFill>
                <a:srgbClr val="000000"/>
              </a:solidFill>
              <a:effectLst/>
              <a:uFillTx/>
              <a:latin typeface="OpenSymbol"/>
            </a:endParaRPr>
          </a:p>
        </p:txBody>
      </p:sp>
      <p:sp>
        <p:nvSpPr>
          <p:cNvPr id="86" name=""/>
          <p:cNvSpPr/>
          <p:nvPr/>
        </p:nvSpPr>
        <p:spPr>
          <a:xfrm>
            <a:off x="819000" y="1467000"/>
            <a:ext cx="3580920" cy="1247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Montserrat"/>
              </a:rPr>
              <a:t> overlaps may go unnoticed until later. Timetables aren’t protected, so you might pick conflicting slots and only learn after you try to save. Visual cues are absent or scattered, making it easy to overlook a clash.</a:t>
            </a:r>
            <a:endParaRPr b="0" lang="en-US" sz="1200" strike="noStrike" u="none">
              <a:solidFill>
                <a:srgbClr val="000000"/>
              </a:solidFill>
              <a:effectLst/>
              <a:uFillTx/>
              <a:latin typeface="OpenSymbol"/>
            </a:endParaRPr>
          </a:p>
        </p:txBody>
      </p:sp>
      <p:sp>
        <p:nvSpPr>
          <p:cNvPr id="87" name=""/>
          <p:cNvSpPr/>
          <p:nvPr/>
        </p:nvSpPr>
        <p:spPr>
          <a:xfrm>
            <a:off x="4743360" y="1467000"/>
            <a:ext cx="3580920" cy="1247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Montserrat"/>
              </a:rPr>
              <a:t>The timetable highlights overlaps in real time. Conflicting options are disabled with a tooltip that explains why (e.g., 'Lab overlaps with Lecture A: Mon 10:00–12:00'). See the before/after: manual planning vs. planner’s protected choices.</a:t>
            </a:r>
            <a:endParaRPr b="0" lang="en-US" sz="1200" strike="noStrike" u="none">
              <a:solidFill>
                <a:srgbClr val="000000"/>
              </a:solidFill>
              <a:effectLst/>
              <a:uFillTx/>
              <a:latin typeface="OpenSymbol"/>
            </a:endParaRPr>
          </a:p>
        </p:txBody>
      </p:sp>
      <p:sp>
        <p:nvSpPr>
          <p:cNvPr id="88" name=""/>
          <p:cNvSpPr/>
          <p:nvPr/>
        </p:nvSpPr>
        <p:spPr>
          <a:xfrm>
            <a:off x="819000" y="4181400"/>
            <a:ext cx="7505280" cy="3330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Montserrat"/>
              </a:rPr>
              <a:t>Overlaps are detected and explained or disabled in real time.</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
          <p:cNvSpPr/>
          <p:nvPr/>
        </p:nvSpPr>
        <p:spPr>
          <a:xfrm>
            <a:off x="714240" y="1457280"/>
            <a:ext cx="7410240" cy="1218960"/>
          </a:xfrm>
          <a:prstGeom prst="rect">
            <a:avLst/>
          </a:prstGeom>
          <a:noFill/>
          <a:ln w="0">
            <a:noFill/>
          </a:ln>
        </p:spPr>
        <p:style>
          <a:lnRef idx="0"/>
          <a:fillRef idx="0"/>
          <a:effectRef idx="0"/>
          <a:fontRef idx="minor"/>
        </p:style>
        <p:txBody>
          <a:bodyPr anchor="ctr">
            <a:normAutofit fontScale="92500" lnSpcReduction="9999"/>
          </a:bodyPr>
          <a:p>
            <a:pPr algn="ctr" defTabSz="914400">
              <a:lnSpc>
                <a:spcPct val="150000"/>
              </a:lnSpc>
              <a:tabLst>
                <a:tab algn="l" pos="0"/>
              </a:tabLst>
            </a:pPr>
            <a:r>
              <a:rPr b="0" lang="en-US" sz="1400" strike="noStrike" u="none">
                <a:solidFill>
                  <a:srgbClr val="000000"/>
                </a:solidFill>
                <a:effectLst/>
                <a:uFillTx/>
                <a:latin typeface="Montserrat"/>
              </a:rPr>
              <a:t>Students can explore courses from Year 1 through Year 4 in a single browse. The system surfaces electives and prerequisites across years, so you can compare options without switching majors. Shared requirements—like English and SCH electives—remain visible and enforceable, no matter your year or major.</a:t>
            </a:r>
            <a:endParaRPr b="0" lang="en-US" sz="1400" strike="noStrike" u="none">
              <a:solidFill>
                <a:srgbClr val="000000"/>
              </a:solidFill>
              <a:effectLst/>
              <a:uFillTx/>
              <a:latin typeface="OpenSymbol"/>
            </a:endParaRPr>
          </a:p>
        </p:txBody>
      </p:sp>
      <p:sp>
        <p:nvSpPr>
          <p:cNvPr id="90" name=""/>
          <p:cNvSpPr/>
          <p:nvPr/>
        </p:nvSpPr>
        <p:spPr>
          <a:xfrm>
            <a:off x="714240" y="447840"/>
            <a:ext cx="4505040" cy="380520"/>
          </a:xfrm>
          <a:prstGeom prst="rect">
            <a:avLst/>
          </a:prstGeom>
          <a:noFill/>
          <a:ln w="0">
            <a:noFill/>
          </a:ln>
        </p:spPr>
        <p:style>
          <a:lnRef idx="0"/>
          <a:fillRef idx="0"/>
          <a:effectRef idx="0"/>
          <a:fontRef idx="minor"/>
        </p:style>
        <p:txBody>
          <a:bodyPr anchor="t">
            <a:normAutofit fontScale="77500" lnSpcReduction="19999"/>
          </a:bodyPr>
          <a:p>
            <a:pPr defTabSz="914400">
              <a:lnSpc>
                <a:spcPct val="100000"/>
              </a:lnSpc>
              <a:tabLst>
                <a:tab algn="l" pos="0"/>
              </a:tabLst>
            </a:pPr>
            <a:r>
              <a:rPr b="0" lang="en-US" sz="3000" strike="noStrike" u="none">
                <a:solidFill>
                  <a:srgbClr val="000000"/>
                </a:solidFill>
                <a:effectLst/>
                <a:uFillTx/>
                <a:latin typeface="Vidaloka"/>
              </a:rPr>
              <a:t>Cross-Year Browsing</a:t>
            </a:r>
            <a:endParaRPr b="0" lang="en-US" sz="30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
          <p:cNvSpPr/>
          <p:nvPr/>
        </p:nvSpPr>
        <p:spPr>
          <a:xfrm>
            <a:off x="3686040" y="847800"/>
            <a:ext cx="9000" cy="344772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92" name=""/>
          <p:cNvSpPr/>
          <p:nvPr/>
        </p:nvSpPr>
        <p:spPr>
          <a:xfrm>
            <a:off x="3267000" y="571680"/>
            <a:ext cx="866520" cy="27576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93" name=""/>
          <p:cNvSpPr/>
          <p:nvPr/>
        </p:nvSpPr>
        <p:spPr>
          <a:xfrm>
            <a:off x="3267000" y="4295880"/>
            <a:ext cx="866520" cy="27576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94" name=""/>
          <p:cNvSpPr/>
          <p:nvPr/>
        </p:nvSpPr>
        <p:spPr>
          <a:xfrm>
            <a:off x="3686040" y="1171440"/>
            <a:ext cx="523440" cy="9000"/>
          </a:xfrm>
          <a:prstGeom prst="rect">
            <a:avLst/>
          </a:prstGeom>
          <a:solidFill>
            <a:srgbClr val="3f3533"/>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95" name=""/>
          <p:cNvSpPr/>
          <p:nvPr/>
        </p:nvSpPr>
        <p:spPr>
          <a:xfrm rot="5400000">
            <a:off x="4210560" y="1143000"/>
            <a:ext cx="66240" cy="66240"/>
          </a:xfrm>
          <a:prstGeom prst="triangle">
            <a:avLst>
              <a:gd name="adj" fmla="val 50000"/>
            </a:avLst>
          </a:prstGeom>
          <a:solidFill>
            <a:srgbClr val="3f3533"/>
          </a:solidFill>
          <a:ln w="0">
            <a:noFill/>
          </a:ln>
        </p:spPr>
        <p:style>
          <a:lnRef idx="0"/>
          <a:fillRef idx="0"/>
          <a:effectRef idx="0"/>
          <a:fontRef idx="minor"/>
        </p:style>
        <p:txBody>
          <a:bodyPr vertOverflow="clip" lIns="90000" rIns="90000" tIns="-11520" bIns="-115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96" name=""/>
          <p:cNvSpPr/>
          <p:nvPr/>
        </p:nvSpPr>
        <p:spPr>
          <a:xfrm>
            <a:off x="3686040" y="2104920"/>
            <a:ext cx="523440" cy="9000"/>
          </a:xfrm>
          <a:prstGeom prst="rect">
            <a:avLst/>
          </a:prstGeom>
          <a:solidFill>
            <a:srgbClr val="3f3533"/>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97" name=""/>
          <p:cNvSpPr/>
          <p:nvPr/>
        </p:nvSpPr>
        <p:spPr>
          <a:xfrm rot="5400000">
            <a:off x="4210560" y="2076480"/>
            <a:ext cx="66240" cy="66240"/>
          </a:xfrm>
          <a:prstGeom prst="triangle">
            <a:avLst>
              <a:gd name="adj" fmla="val 50000"/>
            </a:avLst>
          </a:prstGeom>
          <a:solidFill>
            <a:srgbClr val="3f3533"/>
          </a:solidFill>
          <a:ln w="0">
            <a:noFill/>
          </a:ln>
        </p:spPr>
        <p:style>
          <a:lnRef idx="0"/>
          <a:fillRef idx="0"/>
          <a:effectRef idx="0"/>
          <a:fontRef idx="minor"/>
        </p:style>
        <p:txBody>
          <a:bodyPr vertOverflow="clip" lIns="90000" rIns="90000" tIns="-11520" bIns="-115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98" name=""/>
          <p:cNvSpPr/>
          <p:nvPr/>
        </p:nvSpPr>
        <p:spPr>
          <a:xfrm>
            <a:off x="3686040" y="3029040"/>
            <a:ext cx="523440" cy="9000"/>
          </a:xfrm>
          <a:prstGeom prst="rect">
            <a:avLst/>
          </a:prstGeom>
          <a:solidFill>
            <a:srgbClr val="3f3533"/>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99" name=""/>
          <p:cNvSpPr/>
          <p:nvPr/>
        </p:nvSpPr>
        <p:spPr>
          <a:xfrm rot="5400000">
            <a:off x="4210560" y="3000240"/>
            <a:ext cx="66240" cy="66240"/>
          </a:xfrm>
          <a:prstGeom prst="triangle">
            <a:avLst>
              <a:gd name="adj" fmla="val 50000"/>
            </a:avLst>
          </a:prstGeom>
          <a:solidFill>
            <a:srgbClr val="3f3533"/>
          </a:solidFill>
          <a:ln w="0">
            <a:noFill/>
          </a:ln>
        </p:spPr>
        <p:style>
          <a:lnRef idx="0"/>
          <a:fillRef idx="0"/>
          <a:effectRef idx="0"/>
          <a:fontRef idx="minor"/>
        </p:style>
        <p:txBody>
          <a:bodyPr vertOverflow="clip" lIns="90000" rIns="90000" tIns="-11520" bIns="-115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00" name=""/>
          <p:cNvSpPr/>
          <p:nvPr/>
        </p:nvSpPr>
        <p:spPr>
          <a:xfrm>
            <a:off x="3686040" y="3962520"/>
            <a:ext cx="523440" cy="9000"/>
          </a:xfrm>
          <a:prstGeom prst="rect">
            <a:avLst/>
          </a:prstGeom>
          <a:solidFill>
            <a:srgbClr val="3f3533"/>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01" name=""/>
          <p:cNvSpPr/>
          <p:nvPr/>
        </p:nvSpPr>
        <p:spPr>
          <a:xfrm rot="5400000">
            <a:off x="4210560" y="3933720"/>
            <a:ext cx="66240" cy="66240"/>
          </a:xfrm>
          <a:prstGeom prst="triangle">
            <a:avLst>
              <a:gd name="adj" fmla="val 50000"/>
            </a:avLst>
          </a:prstGeom>
          <a:solidFill>
            <a:srgbClr val="3f3533"/>
          </a:solidFill>
          <a:ln w="0">
            <a:noFill/>
          </a:ln>
        </p:spPr>
        <p:style>
          <a:lnRef idx="0"/>
          <a:fillRef idx="0"/>
          <a:effectRef idx="0"/>
          <a:fontRef idx="minor"/>
        </p:style>
        <p:txBody>
          <a:bodyPr vertOverflow="clip" lIns="90000" rIns="90000" tIns="-11520" bIns="-115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02" name=""/>
          <p:cNvSpPr/>
          <p:nvPr/>
        </p:nvSpPr>
        <p:spPr>
          <a:xfrm>
            <a:off x="819000" y="571680"/>
            <a:ext cx="209520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0" lang="en-US" sz="2600" strike="noStrike" u="none">
                <a:solidFill>
                  <a:srgbClr val="000000"/>
                </a:solidFill>
                <a:effectLst/>
                <a:uFillTx/>
                <a:latin typeface="Vidaloka"/>
              </a:rPr>
              <a:t>Best Schedule</a:t>
            </a:r>
            <a:endParaRPr b="0" lang="en-US" sz="2600" strike="noStrike" u="none">
              <a:solidFill>
                <a:srgbClr val="000000"/>
              </a:solidFill>
              <a:effectLst/>
              <a:uFillTx/>
              <a:latin typeface="OpenSymbol"/>
            </a:endParaRPr>
          </a:p>
        </p:txBody>
      </p:sp>
      <p:sp>
        <p:nvSpPr>
          <p:cNvPr id="103" name=""/>
          <p:cNvSpPr/>
          <p:nvPr/>
        </p:nvSpPr>
        <p:spPr>
          <a:xfrm>
            <a:off x="4486320" y="923760"/>
            <a:ext cx="1399680" cy="58068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000000"/>
                </a:solidFill>
                <a:effectLst/>
                <a:uFillTx/>
                <a:latin typeface="Vidaloka"/>
              </a:rPr>
              <a:t>Open Preferences</a:t>
            </a:r>
            <a:endParaRPr b="0" lang="en-US" sz="1400" strike="noStrike" u="none">
              <a:solidFill>
                <a:srgbClr val="000000"/>
              </a:solidFill>
              <a:effectLst/>
              <a:uFillTx/>
              <a:latin typeface="OpenSymbol"/>
            </a:endParaRPr>
          </a:p>
        </p:txBody>
      </p:sp>
      <p:sp>
        <p:nvSpPr>
          <p:cNvPr id="104" name=""/>
          <p:cNvSpPr/>
          <p:nvPr/>
        </p:nvSpPr>
        <p:spPr>
          <a:xfrm>
            <a:off x="6058080" y="771480"/>
            <a:ext cx="2266560" cy="7045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000000"/>
                </a:solidFill>
                <a:effectLst/>
                <a:uFillTx/>
                <a:latin typeface="Montserrat"/>
              </a:rPr>
              <a:t>Access the preference panel to tailor your planning rules.</a:t>
            </a:r>
            <a:endParaRPr b="0" lang="en-US" sz="1200" strike="noStrike" u="none">
              <a:solidFill>
                <a:srgbClr val="000000"/>
              </a:solidFill>
              <a:effectLst/>
              <a:uFillTx/>
              <a:latin typeface="OpenSymbol"/>
            </a:endParaRPr>
          </a:p>
        </p:txBody>
      </p:sp>
      <p:sp>
        <p:nvSpPr>
          <p:cNvPr id="105" name=""/>
          <p:cNvSpPr/>
          <p:nvPr/>
        </p:nvSpPr>
        <p:spPr>
          <a:xfrm>
            <a:off x="4486320" y="1847880"/>
            <a:ext cx="1399680" cy="58068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000000"/>
                </a:solidFill>
                <a:effectLst/>
                <a:uFillTx/>
                <a:latin typeface="Vidaloka"/>
              </a:rPr>
              <a:t>Set Constraints</a:t>
            </a:r>
            <a:endParaRPr b="0" lang="en-US" sz="1400" strike="noStrike" u="none">
              <a:solidFill>
                <a:srgbClr val="000000"/>
              </a:solidFill>
              <a:effectLst/>
              <a:uFillTx/>
              <a:latin typeface="OpenSymbol"/>
            </a:endParaRPr>
          </a:p>
        </p:txBody>
      </p:sp>
      <p:sp>
        <p:nvSpPr>
          <p:cNvPr id="106" name=""/>
          <p:cNvSpPr/>
          <p:nvPr/>
        </p:nvSpPr>
        <p:spPr>
          <a:xfrm>
            <a:off x="6058080" y="1695600"/>
            <a:ext cx="2266560" cy="10663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000000"/>
                </a:solidFill>
                <a:effectLst/>
                <a:uFillTx/>
                <a:latin typeface="Montserrat"/>
              </a:rPr>
              <a:t>Adjust max hours per day, preferred free day, gap minimization, earliest finish, latest start, and credit limits.</a:t>
            </a:r>
            <a:endParaRPr b="0" lang="en-US" sz="1200" strike="noStrike" u="none">
              <a:solidFill>
                <a:srgbClr val="000000"/>
              </a:solidFill>
              <a:effectLst/>
              <a:uFillTx/>
              <a:latin typeface="OpenSymbol"/>
            </a:endParaRPr>
          </a:p>
        </p:txBody>
      </p:sp>
      <p:sp>
        <p:nvSpPr>
          <p:cNvPr id="107" name=""/>
          <p:cNvSpPr/>
          <p:nvPr/>
        </p:nvSpPr>
        <p:spPr>
          <a:xfrm>
            <a:off x="4486320" y="2781360"/>
            <a:ext cx="1399680" cy="58068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000000"/>
                </a:solidFill>
                <a:effectLst/>
                <a:uFillTx/>
                <a:latin typeface="Vidaloka"/>
              </a:rPr>
              <a:t>Generate Alternatives</a:t>
            </a:r>
            <a:endParaRPr b="0" lang="en-US" sz="1400" strike="noStrike" u="none">
              <a:solidFill>
                <a:srgbClr val="000000"/>
              </a:solidFill>
              <a:effectLst/>
              <a:uFillTx/>
              <a:latin typeface="OpenSymbol"/>
            </a:endParaRPr>
          </a:p>
        </p:txBody>
      </p:sp>
      <p:sp>
        <p:nvSpPr>
          <p:cNvPr id="108" name=""/>
          <p:cNvSpPr/>
          <p:nvPr/>
        </p:nvSpPr>
        <p:spPr>
          <a:xfrm>
            <a:off x="6058080" y="2629080"/>
            <a:ext cx="2266560" cy="88560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000000"/>
                </a:solidFill>
                <a:effectLst/>
                <a:uFillTx/>
                <a:latin typeface="Montserrat"/>
              </a:rPr>
              <a:t>Run the generator to produce multiple valid schedules that honor your preferences.</a:t>
            </a:r>
            <a:endParaRPr b="0" lang="en-US" sz="1200" strike="noStrike" u="none">
              <a:solidFill>
                <a:srgbClr val="000000"/>
              </a:solidFill>
              <a:effectLst/>
              <a:uFillTx/>
              <a:latin typeface="OpenSymbol"/>
            </a:endParaRPr>
          </a:p>
        </p:txBody>
      </p:sp>
      <p:sp>
        <p:nvSpPr>
          <p:cNvPr id="109" name=""/>
          <p:cNvSpPr/>
          <p:nvPr/>
        </p:nvSpPr>
        <p:spPr>
          <a:xfrm>
            <a:off x="4486320" y="3714840"/>
            <a:ext cx="1399680" cy="58068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000000"/>
                </a:solidFill>
                <a:effectLst/>
                <a:uFillTx/>
                <a:latin typeface="Vidaloka"/>
              </a:rPr>
              <a:t>Review Options</a:t>
            </a:r>
            <a:endParaRPr b="0" lang="en-US" sz="1400" strike="noStrike" u="none">
              <a:solidFill>
                <a:srgbClr val="000000"/>
              </a:solidFill>
              <a:effectLst/>
              <a:uFillTx/>
              <a:latin typeface="OpenSymbol"/>
            </a:endParaRPr>
          </a:p>
        </p:txBody>
      </p:sp>
      <p:sp>
        <p:nvSpPr>
          <p:cNvPr id="110" name=""/>
          <p:cNvSpPr/>
          <p:nvPr/>
        </p:nvSpPr>
        <p:spPr>
          <a:xfrm>
            <a:off x="6058080" y="3562200"/>
            <a:ext cx="2266560" cy="88560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000000"/>
                </a:solidFill>
                <a:effectLst/>
                <a:uFillTx/>
                <a:latin typeface="Montserrat"/>
              </a:rPr>
              <a:t>Preview several schedules and compare against your constraints before selecting.</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
          <p:cNvSpPr/>
          <p:nvPr/>
        </p:nvSpPr>
        <p:spPr>
          <a:xfrm>
            <a:off x="942840" y="1333440"/>
            <a:ext cx="2371320" cy="18720"/>
          </a:xfrm>
          <a:prstGeom prst="rect">
            <a:avLst/>
          </a:prstGeom>
          <a:solidFill>
            <a:srgbClr val="3f3533"/>
          </a:solidFill>
          <a:ln w="0">
            <a:noFill/>
          </a:ln>
        </p:spPr>
        <p:style>
          <a:lnRef idx="0"/>
          <a:fillRef idx="0"/>
          <a:effectRef idx="0"/>
          <a:fontRef idx="minor"/>
        </p:style>
        <p:txBody>
          <a:bodyPr vertOverflow="clip" lIns="90000" rIns="90000" tIns="-25920" bIns="-259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12" name=""/>
          <p:cNvSpPr/>
          <p:nvPr/>
        </p:nvSpPr>
        <p:spPr>
          <a:xfrm>
            <a:off x="3438360" y="1333440"/>
            <a:ext cx="2371320" cy="18720"/>
          </a:xfrm>
          <a:prstGeom prst="rect">
            <a:avLst/>
          </a:prstGeom>
          <a:solidFill>
            <a:srgbClr val="3f3533"/>
          </a:solidFill>
          <a:ln w="0">
            <a:noFill/>
          </a:ln>
        </p:spPr>
        <p:style>
          <a:lnRef idx="0"/>
          <a:fillRef idx="0"/>
          <a:effectRef idx="0"/>
          <a:fontRef idx="minor"/>
        </p:style>
        <p:txBody>
          <a:bodyPr vertOverflow="clip" lIns="90000" rIns="90000" tIns="-25920" bIns="-259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13" name=""/>
          <p:cNvSpPr/>
          <p:nvPr/>
        </p:nvSpPr>
        <p:spPr>
          <a:xfrm>
            <a:off x="5934240" y="1333440"/>
            <a:ext cx="2828520" cy="18720"/>
          </a:xfrm>
          <a:prstGeom prst="rect">
            <a:avLst/>
          </a:prstGeom>
          <a:solidFill>
            <a:srgbClr val="3f3533"/>
          </a:solidFill>
          <a:ln w="0">
            <a:noFill/>
          </a:ln>
        </p:spPr>
        <p:style>
          <a:lnRef idx="0"/>
          <a:fillRef idx="0"/>
          <a:effectRef idx="0"/>
          <a:fontRef idx="minor"/>
        </p:style>
        <p:txBody>
          <a:bodyPr vertOverflow="clip" lIns="90000" rIns="90000" tIns="-25920" bIns="-259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14" name=""/>
          <p:cNvSpPr/>
          <p:nvPr/>
        </p:nvSpPr>
        <p:spPr>
          <a:xfrm>
            <a:off x="819000" y="1276200"/>
            <a:ext cx="123480" cy="114120"/>
          </a:xfrm>
          <a:prstGeom prst="ellipse">
            <a:avLst/>
          </a:prstGeom>
          <a:solidFill>
            <a:srgbClr val="3f3533"/>
          </a:solidFill>
          <a:ln w="0">
            <a:noFill/>
          </a:ln>
        </p:spPr>
        <p:style>
          <a:lnRef idx="0"/>
          <a:fillRef idx="0"/>
          <a:effectRef idx="0"/>
          <a:fontRef idx="minor"/>
        </p:style>
        <p:txBody>
          <a:bodyPr vertOverflow="clip" lIns="90000" rIns="90000" tIns="36000" bIns="36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15" name=""/>
          <p:cNvSpPr/>
          <p:nvPr/>
        </p:nvSpPr>
        <p:spPr>
          <a:xfrm>
            <a:off x="3314880" y="1276200"/>
            <a:ext cx="123480" cy="114120"/>
          </a:xfrm>
          <a:prstGeom prst="ellipse">
            <a:avLst/>
          </a:prstGeom>
          <a:solidFill>
            <a:srgbClr val="3f3533"/>
          </a:solidFill>
          <a:ln w="0">
            <a:noFill/>
          </a:ln>
        </p:spPr>
        <p:style>
          <a:lnRef idx="0"/>
          <a:fillRef idx="0"/>
          <a:effectRef idx="0"/>
          <a:fontRef idx="minor"/>
        </p:style>
        <p:txBody>
          <a:bodyPr vertOverflow="clip" lIns="90000" rIns="90000" tIns="36000" bIns="36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16" name=""/>
          <p:cNvSpPr/>
          <p:nvPr/>
        </p:nvSpPr>
        <p:spPr>
          <a:xfrm>
            <a:off x="5810400" y="1276200"/>
            <a:ext cx="123480" cy="114120"/>
          </a:xfrm>
          <a:prstGeom prst="ellipse">
            <a:avLst/>
          </a:prstGeom>
          <a:solidFill>
            <a:srgbClr val="3f3533"/>
          </a:solidFill>
          <a:ln w="0">
            <a:noFill/>
          </a:ln>
        </p:spPr>
        <p:style>
          <a:lnRef idx="0"/>
          <a:fillRef idx="0"/>
          <a:effectRef idx="0"/>
          <a:fontRef idx="minor"/>
        </p:style>
        <p:txBody>
          <a:bodyPr vertOverflow="clip" lIns="90000" rIns="90000" tIns="36000" bIns="36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17" name=""/>
          <p:cNvSpPr/>
          <p:nvPr/>
        </p:nvSpPr>
        <p:spPr>
          <a:xfrm>
            <a:off x="380880" y="3114720"/>
            <a:ext cx="437760" cy="18720"/>
          </a:xfrm>
          <a:prstGeom prst="rect">
            <a:avLst/>
          </a:prstGeom>
          <a:solidFill>
            <a:srgbClr val="3f3533"/>
          </a:solidFill>
          <a:ln w="0">
            <a:noFill/>
          </a:ln>
        </p:spPr>
        <p:style>
          <a:lnRef idx="0"/>
          <a:fillRef idx="0"/>
          <a:effectRef idx="0"/>
          <a:fontRef idx="minor"/>
        </p:style>
        <p:txBody>
          <a:bodyPr vertOverflow="clip" lIns="90000" rIns="90000" tIns="-25920" bIns="-259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18" name=""/>
          <p:cNvSpPr/>
          <p:nvPr/>
        </p:nvSpPr>
        <p:spPr>
          <a:xfrm>
            <a:off x="819000" y="3057480"/>
            <a:ext cx="123480" cy="114120"/>
          </a:xfrm>
          <a:prstGeom prst="ellipse">
            <a:avLst/>
          </a:prstGeom>
          <a:solidFill>
            <a:srgbClr val="3f3533"/>
          </a:solidFill>
          <a:ln w="0">
            <a:noFill/>
          </a:ln>
        </p:spPr>
        <p:style>
          <a:lnRef idx="0"/>
          <a:fillRef idx="0"/>
          <a:effectRef idx="0"/>
          <a:fontRef idx="minor"/>
        </p:style>
        <p:txBody>
          <a:bodyPr vertOverflow="clip" lIns="90000" rIns="90000" tIns="36000" bIns="36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19" name=""/>
          <p:cNvSpPr/>
          <p:nvPr/>
        </p:nvSpPr>
        <p:spPr>
          <a:xfrm>
            <a:off x="819000" y="628560"/>
            <a:ext cx="750528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0" lang="en-US" sz="2600" strike="noStrike" u="none">
                <a:solidFill>
                  <a:srgbClr val="000000"/>
                </a:solidFill>
                <a:effectLst/>
                <a:uFillTx/>
                <a:latin typeface="Vidaloka"/>
              </a:rPr>
              <a:t>Personalize &amp; Generate</a:t>
            </a:r>
            <a:endParaRPr b="0" lang="en-US" sz="2600" strike="noStrike" u="none">
              <a:solidFill>
                <a:srgbClr val="000000"/>
              </a:solidFill>
              <a:effectLst/>
              <a:uFillTx/>
              <a:latin typeface="OpenSymbol"/>
            </a:endParaRPr>
          </a:p>
        </p:txBody>
      </p:sp>
      <p:sp>
        <p:nvSpPr>
          <p:cNvPr id="120" name=""/>
          <p:cNvSpPr/>
          <p:nvPr/>
        </p:nvSpPr>
        <p:spPr>
          <a:xfrm>
            <a:off x="819000" y="1438200"/>
            <a:ext cx="235224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000000"/>
                </a:solidFill>
                <a:effectLst/>
                <a:uFillTx/>
                <a:latin typeface="Vidaloka"/>
              </a:rPr>
              <a:t>Set Preferences</a:t>
            </a:r>
            <a:endParaRPr b="0" lang="en-US" sz="1400" strike="noStrike" u="none">
              <a:solidFill>
                <a:srgbClr val="000000"/>
              </a:solidFill>
              <a:effectLst/>
              <a:uFillTx/>
              <a:latin typeface="OpenSymbol"/>
            </a:endParaRPr>
          </a:p>
        </p:txBody>
      </p:sp>
      <p:sp>
        <p:nvSpPr>
          <p:cNvPr id="121" name=""/>
          <p:cNvSpPr/>
          <p:nvPr/>
        </p:nvSpPr>
        <p:spPr>
          <a:xfrm>
            <a:off x="819000" y="2028960"/>
            <a:ext cx="2352240" cy="10663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Montserrat"/>
              </a:rPr>
              <a:t>Students input max hours per day, preferred free day, min gaps, earliest finish, latest start, and credit targets (13/18/21).</a:t>
            </a:r>
            <a:endParaRPr b="0" lang="en-US" sz="1200" strike="noStrike" u="none">
              <a:solidFill>
                <a:srgbClr val="000000"/>
              </a:solidFill>
              <a:effectLst/>
              <a:uFillTx/>
              <a:latin typeface="OpenSymbol"/>
            </a:endParaRPr>
          </a:p>
        </p:txBody>
      </p:sp>
      <p:sp>
        <p:nvSpPr>
          <p:cNvPr id="122" name=""/>
          <p:cNvSpPr/>
          <p:nvPr/>
        </p:nvSpPr>
        <p:spPr>
          <a:xfrm>
            <a:off x="3314880" y="1438200"/>
            <a:ext cx="236196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000000"/>
                </a:solidFill>
                <a:effectLst/>
                <a:uFillTx/>
                <a:latin typeface="Vidaloka"/>
              </a:rPr>
              <a:t>Run Generator</a:t>
            </a:r>
            <a:endParaRPr b="0" lang="en-US" sz="1400" strike="noStrike" u="none">
              <a:solidFill>
                <a:srgbClr val="000000"/>
              </a:solidFill>
              <a:effectLst/>
              <a:uFillTx/>
              <a:latin typeface="OpenSymbol"/>
            </a:endParaRPr>
          </a:p>
        </p:txBody>
      </p:sp>
      <p:sp>
        <p:nvSpPr>
          <p:cNvPr id="123" name=""/>
          <p:cNvSpPr/>
          <p:nvPr/>
        </p:nvSpPr>
        <p:spPr>
          <a:xfrm>
            <a:off x="3314880" y="2028960"/>
            <a:ext cx="2361960" cy="8856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Montserrat"/>
              </a:rPr>
              <a:t>Best Schedule Generator creates multiple valid options that honor every constraint.</a:t>
            </a:r>
            <a:endParaRPr b="0" lang="en-US" sz="1200" strike="noStrike" u="none">
              <a:solidFill>
                <a:srgbClr val="000000"/>
              </a:solidFill>
              <a:effectLst/>
              <a:uFillTx/>
              <a:latin typeface="OpenSymbol"/>
            </a:endParaRPr>
          </a:p>
        </p:txBody>
      </p:sp>
      <p:sp>
        <p:nvSpPr>
          <p:cNvPr id="124" name=""/>
          <p:cNvSpPr/>
          <p:nvPr/>
        </p:nvSpPr>
        <p:spPr>
          <a:xfrm>
            <a:off x="5810400" y="1438200"/>
            <a:ext cx="236196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000000"/>
                </a:solidFill>
                <a:effectLst/>
                <a:uFillTx/>
                <a:latin typeface="Vidaloka"/>
              </a:rPr>
              <a:t>Review Options</a:t>
            </a:r>
            <a:endParaRPr b="0" lang="en-US" sz="1400" strike="noStrike" u="none">
              <a:solidFill>
                <a:srgbClr val="000000"/>
              </a:solidFill>
              <a:effectLst/>
              <a:uFillTx/>
              <a:latin typeface="OpenSymbol"/>
            </a:endParaRPr>
          </a:p>
        </p:txBody>
      </p:sp>
      <p:sp>
        <p:nvSpPr>
          <p:cNvPr id="125" name=""/>
          <p:cNvSpPr/>
          <p:nvPr/>
        </p:nvSpPr>
        <p:spPr>
          <a:xfrm>
            <a:off x="5810400" y="2028960"/>
            <a:ext cx="2361960" cy="1247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Montserrat"/>
              </a:rPr>
              <a:t>See several complete schedules with different free days, gaps, and finish times. Toggle complete schedule to include all courses.</a:t>
            </a:r>
            <a:endParaRPr b="0" lang="en-US" sz="1200" strike="noStrike" u="none">
              <a:solidFill>
                <a:srgbClr val="000000"/>
              </a:solidFill>
              <a:effectLst/>
              <a:uFillTx/>
              <a:latin typeface="OpenSymbol"/>
            </a:endParaRPr>
          </a:p>
        </p:txBody>
      </p:sp>
      <p:sp>
        <p:nvSpPr>
          <p:cNvPr id="126" name=""/>
          <p:cNvSpPr/>
          <p:nvPr/>
        </p:nvSpPr>
        <p:spPr>
          <a:xfrm>
            <a:off x="819000" y="3219480"/>
            <a:ext cx="235224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000000"/>
                </a:solidFill>
                <a:effectLst/>
                <a:uFillTx/>
                <a:latin typeface="Vidaloka"/>
              </a:rPr>
              <a:t>Select &amp; Save</a:t>
            </a:r>
            <a:endParaRPr b="0" lang="en-US" sz="1400" strike="noStrike" u="none">
              <a:solidFill>
                <a:srgbClr val="000000"/>
              </a:solidFill>
              <a:effectLst/>
              <a:uFillTx/>
              <a:latin typeface="OpenSymbol"/>
            </a:endParaRPr>
          </a:p>
        </p:txBody>
      </p:sp>
      <p:sp>
        <p:nvSpPr>
          <p:cNvPr id="127" name=""/>
          <p:cNvSpPr/>
          <p:nvPr/>
        </p:nvSpPr>
        <p:spPr>
          <a:xfrm>
            <a:off x="819000" y="3809880"/>
            <a:ext cx="2352240" cy="8856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Montserrat"/>
              </a:rPr>
              <a:t>Choose the top schedules, save preferred ones, or export for sharing with peers.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
          <p:cNvSpPr/>
          <p:nvPr/>
        </p:nvSpPr>
        <p:spPr>
          <a:xfrm>
            <a:off x="819000" y="628560"/>
            <a:ext cx="7505280" cy="361440"/>
          </a:xfrm>
          <a:prstGeom prst="rect">
            <a:avLst/>
          </a:prstGeom>
          <a:noFill/>
          <a:ln w="0">
            <a:noFill/>
          </a:ln>
        </p:spPr>
        <p:style>
          <a:lnRef idx="0"/>
          <a:fillRef idx="0"/>
          <a:effectRef idx="0"/>
          <a:fontRef idx="minor"/>
        </p:style>
        <p:txBody>
          <a:bodyPr anchor="t">
            <a:normAutofit fontScale="85000" lnSpcReduction="19999"/>
          </a:bodyPr>
          <a:p>
            <a:pPr algn="ctr" defTabSz="914400">
              <a:lnSpc>
                <a:spcPct val="100000"/>
              </a:lnSpc>
              <a:tabLst>
                <a:tab algn="l" pos="0"/>
              </a:tabLst>
            </a:pPr>
            <a:r>
              <a:rPr b="1" lang="en-US" sz="2400" strike="noStrike" u="none">
                <a:solidFill>
                  <a:srgbClr val="000000"/>
                </a:solidFill>
                <a:effectLst/>
                <a:uFillTx/>
                <a:latin typeface="Vidaloka"/>
              </a:rPr>
              <a:t>No Gaps, Fast Finish</a:t>
            </a:r>
            <a:endParaRPr b="0" lang="en-US" sz="2400" strike="noStrike" u="none">
              <a:solidFill>
                <a:srgbClr val="000000"/>
              </a:solidFill>
              <a:effectLst/>
              <a:uFillTx/>
              <a:latin typeface="OpenSymbol"/>
            </a:endParaRPr>
          </a:p>
        </p:txBody>
      </p:sp>
      <p:sp>
        <p:nvSpPr>
          <p:cNvPr id="129" name=""/>
          <p:cNvSpPr/>
          <p:nvPr/>
        </p:nvSpPr>
        <p:spPr>
          <a:xfrm>
            <a:off x="819000" y="1390680"/>
            <a:ext cx="358092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1400" strike="noStrike" u="none">
                <a:solidFill>
                  <a:srgbClr val="000000"/>
                </a:solidFill>
                <a:effectLst/>
                <a:uFillTx/>
                <a:latin typeface="Montserrat"/>
              </a:rPr>
              <a:t>Schedule 1</a:t>
            </a:r>
            <a:endParaRPr b="0" lang="en-US" sz="1400" strike="noStrike" u="none">
              <a:solidFill>
                <a:srgbClr val="000000"/>
              </a:solidFill>
              <a:effectLst/>
              <a:uFillTx/>
              <a:latin typeface="OpenSymbol"/>
            </a:endParaRPr>
          </a:p>
        </p:txBody>
      </p:sp>
      <p:sp>
        <p:nvSpPr>
          <p:cNvPr id="130" name=""/>
          <p:cNvSpPr/>
          <p:nvPr/>
        </p:nvSpPr>
        <p:spPr>
          <a:xfrm>
            <a:off x="819000" y="1790640"/>
            <a:ext cx="358092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Montserrat"/>
              </a:rPr>
              <a:t>Free days: 2. Total gaps: 3. Credits: 15. Daily workload: moderate. Use This Schedule to see a balanced week with two free days.</a:t>
            </a:r>
            <a:endParaRPr b="0" lang="en-US" sz="1200" strike="noStrike" u="none">
              <a:solidFill>
                <a:srgbClr val="000000"/>
              </a:solidFill>
              <a:effectLst/>
              <a:uFillTx/>
              <a:latin typeface="OpenSymbol"/>
            </a:endParaRPr>
          </a:p>
        </p:txBody>
      </p:sp>
      <p:sp>
        <p:nvSpPr>
          <p:cNvPr id="131" name=""/>
          <p:cNvSpPr/>
          <p:nvPr/>
        </p:nvSpPr>
        <p:spPr>
          <a:xfrm>
            <a:off x="4743360" y="1390680"/>
            <a:ext cx="358092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1400" strike="noStrike" u="none">
                <a:solidFill>
                  <a:srgbClr val="000000"/>
                </a:solidFill>
                <a:effectLst/>
                <a:uFillTx/>
                <a:latin typeface="Montserrat"/>
              </a:rPr>
              <a:t>Schedule 2</a:t>
            </a:r>
            <a:endParaRPr b="0" lang="en-US" sz="1400" strike="noStrike" u="none">
              <a:solidFill>
                <a:srgbClr val="000000"/>
              </a:solidFill>
              <a:effectLst/>
              <a:uFillTx/>
              <a:latin typeface="OpenSymbol"/>
            </a:endParaRPr>
          </a:p>
        </p:txBody>
      </p:sp>
      <p:sp>
        <p:nvSpPr>
          <p:cNvPr id="132" name=""/>
          <p:cNvSpPr/>
          <p:nvPr/>
        </p:nvSpPr>
        <p:spPr>
          <a:xfrm>
            <a:off x="4743360" y="1790640"/>
            <a:ext cx="3580920" cy="8856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Montserrat"/>
              </a:rPr>
              <a:t>Free days: 0. Total gaps: 1. Credits: 15. Daily workload: compact; finish by 3:45 PM. Use This Schedule to minimize interruptions and finish early.</a:t>
            </a:r>
            <a:endParaRPr b="0" lang="en-US" sz="1200" strike="noStrike" u="none">
              <a:solidFill>
                <a:srgbClr val="000000"/>
              </a:solidFill>
              <a:effectLst/>
              <a:uFillTx/>
              <a:latin typeface="OpenSymbol"/>
            </a:endParaRPr>
          </a:p>
        </p:txBody>
      </p:sp>
      <p:sp>
        <p:nvSpPr>
          <p:cNvPr id="133" name=""/>
          <p:cNvSpPr/>
          <p:nvPr/>
        </p:nvSpPr>
        <p:spPr>
          <a:xfrm>
            <a:off x="819000" y="4048200"/>
            <a:ext cx="7505280" cy="3330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Montserrat"/>
              </a:rPr>
              <a:t>Zero gaps and earliest finish is the standout option.</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
          <p:cNvSpPr/>
          <p:nvPr/>
        </p:nvSpPr>
        <p:spPr>
          <a:xfrm>
            <a:off x="819000" y="1943280"/>
            <a:ext cx="2285640" cy="249516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35" name=""/>
          <p:cNvSpPr/>
          <p:nvPr/>
        </p:nvSpPr>
        <p:spPr>
          <a:xfrm>
            <a:off x="3314880" y="1943280"/>
            <a:ext cx="2285640" cy="249516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36" name=""/>
          <p:cNvSpPr/>
          <p:nvPr/>
        </p:nvSpPr>
        <p:spPr>
          <a:xfrm>
            <a:off x="5810400" y="1943280"/>
            <a:ext cx="2285640" cy="249516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37" name=""/>
          <p:cNvSpPr/>
          <p:nvPr/>
        </p:nvSpPr>
        <p:spPr>
          <a:xfrm>
            <a:off x="819000" y="628560"/>
            <a:ext cx="750528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0" lang="en-US" sz="2600" strike="noStrike" u="none">
                <a:solidFill>
                  <a:srgbClr val="000000"/>
                </a:solidFill>
                <a:effectLst/>
                <a:uFillTx/>
                <a:latin typeface="Vidaloka"/>
              </a:rPr>
              <a:t>Shareable Schedule</a:t>
            </a:r>
            <a:endParaRPr b="0" lang="en-US" sz="2600" strike="noStrike" u="none">
              <a:solidFill>
                <a:srgbClr val="000000"/>
              </a:solidFill>
              <a:effectLst/>
              <a:uFillTx/>
              <a:latin typeface="OpenSymbol"/>
            </a:endParaRPr>
          </a:p>
        </p:txBody>
      </p:sp>
      <p:sp>
        <p:nvSpPr>
          <p:cNvPr id="138" name=""/>
          <p:cNvSpPr/>
          <p:nvPr/>
        </p:nvSpPr>
        <p:spPr>
          <a:xfrm>
            <a:off x="819000" y="1390680"/>
            <a:ext cx="228564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000000"/>
                </a:solidFill>
                <a:effectLst/>
                <a:uFillTx/>
                <a:latin typeface="Vidaloka"/>
              </a:rPr>
              <a:t>01</a:t>
            </a:r>
            <a:endParaRPr b="0" lang="en-US" sz="2400" strike="noStrike" u="none">
              <a:solidFill>
                <a:srgbClr val="000000"/>
              </a:solidFill>
              <a:effectLst/>
              <a:uFillTx/>
              <a:latin typeface="OpenSymbol"/>
            </a:endParaRPr>
          </a:p>
        </p:txBody>
      </p:sp>
      <p:sp>
        <p:nvSpPr>
          <p:cNvPr id="139" name=""/>
          <p:cNvSpPr/>
          <p:nvPr/>
        </p:nvSpPr>
        <p:spPr>
          <a:xfrm>
            <a:off x="990720" y="2181240"/>
            <a:ext cx="194292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f5f2ee"/>
                </a:solidFill>
                <a:effectLst/>
                <a:uFillTx/>
                <a:latin typeface="Vidaloka"/>
              </a:rPr>
              <a:t>Generate Link</a:t>
            </a:r>
            <a:endParaRPr b="0" lang="en-US" sz="1800" strike="noStrike" u="none">
              <a:solidFill>
                <a:srgbClr val="000000"/>
              </a:solidFill>
              <a:effectLst/>
              <a:uFillTx/>
              <a:latin typeface="OpenSymbol"/>
            </a:endParaRPr>
          </a:p>
        </p:txBody>
      </p:sp>
      <p:sp>
        <p:nvSpPr>
          <p:cNvPr id="140" name=""/>
          <p:cNvSpPr/>
          <p:nvPr/>
        </p:nvSpPr>
        <p:spPr>
          <a:xfrm>
            <a:off x="990720" y="2657520"/>
            <a:ext cx="1942920" cy="1247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5f2ee"/>
                </a:solidFill>
                <a:effectLst/>
                <a:uFillTx/>
                <a:latin typeface="Montserrat"/>
              </a:rPr>
              <a:t>Student A creates a URL or QR code that encodes their selected courses, sections, and preferences.</a:t>
            </a:r>
            <a:endParaRPr b="0" lang="en-US" sz="1200" strike="noStrike" u="none">
              <a:solidFill>
                <a:srgbClr val="000000"/>
              </a:solidFill>
              <a:effectLst/>
              <a:uFillTx/>
              <a:latin typeface="OpenSymbol"/>
            </a:endParaRPr>
          </a:p>
        </p:txBody>
      </p:sp>
      <p:sp>
        <p:nvSpPr>
          <p:cNvPr id="141" name=""/>
          <p:cNvSpPr/>
          <p:nvPr/>
        </p:nvSpPr>
        <p:spPr>
          <a:xfrm>
            <a:off x="3314880" y="1390680"/>
            <a:ext cx="228564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000000"/>
                </a:solidFill>
                <a:effectLst/>
                <a:uFillTx/>
                <a:latin typeface="Vidaloka"/>
              </a:rPr>
              <a:t>02</a:t>
            </a:r>
            <a:endParaRPr b="0" lang="en-US" sz="2400" strike="noStrike" u="none">
              <a:solidFill>
                <a:srgbClr val="000000"/>
              </a:solidFill>
              <a:effectLst/>
              <a:uFillTx/>
              <a:latin typeface="OpenSymbol"/>
            </a:endParaRPr>
          </a:p>
        </p:txBody>
      </p:sp>
      <p:sp>
        <p:nvSpPr>
          <p:cNvPr id="142" name=""/>
          <p:cNvSpPr/>
          <p:nvPr/>
        </p:nvSpPr>
        <p:spPr>
          <a:xfrm>
            <a:off x="3486240" y="2181240"/>
            <a:ext cx="194292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f5f2ee"/>
                </a:solidFill>
                <a:effectLst/>
                <a:uFillTx/>
                <a:latin typeface="Vidaloka"/>
              </a:rPr>
              <a:t>Share Link</a:t>
            </a:r>
            <a:endParaRPr b="0" lang="en-US" sz="1800" strike="noStrike" u="none">
              <a:solidFill>
                <a:srgbClr val="000000"/>
              </a:solidFill>
              <a:effectLst/>
              <a:uFillTx/>
              <a:latin typeface="OpenSymbol"/>
            </a:endParaRPr>
          </a:p>
        </p:txBody>
      </p:sp>
      <p:sp>
        <p:nvSpPr>
          <p:cNvPr id="143" name=""/>
          <p:cNvSpPr/>
          <p:nvPr/>
        </p:nvSpPr>
        <p:spPr>
          <a:xfrm>
            <a:off x="3486240" y="2657520"/>
            <a:ext cx="194292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5f2ee"/>
                </a:solidFill>
                <a:effectLst/>
                <a:uFillTx/>
                <a:latin typeface="Montserrat"/>
              </a:rPr>
              <a:t>The link or QR is shared with peers for quick access.</a:t>
            </a:r>
            <a:endParaRPr b="0" lang="en-US" sz="1200" strike="noStrike" u="none">
              <a:solidFill>
                <a:srgbClr val="000000"/>
              </a:solidFill>
              <a:effectLst/>
              <a:uFillTx/>
              <a:latin typeface="OpenSymbol"/>
            </a:endParaRPr>
          </a:p>
        </p:txBody>
      </p:sp>
      <p:sp>
        <p:nvSpPr>
          <p:cNvPr id="144" name=""/>
          <p:cNvSpPr/>
          <p:nvPr/>
        </p:nvSpPr>
        <p:spPr>
          <a:xfrm>
            <a:off x="5810400" y="1390680"/>
            <a:ext cx="228564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000000"/>
                </a:solidFill>
                <a:effectLst/>
                <a:uFillTx/>
                <a:latin typeface="Vidaloka"/>
              </a:rPr>
              <a:t>03</a:t>
            </a:r>
            <a:endParaRPr b="0" lang="en-US" sz="2400" strike="noStrike" u="none">
              <a:solidFill>
                <a:srgbClr val="000000"/>
              </a:solidFill>
              <a:effectLst/>
              <a:uFillTx/>
              <a:latin typeface="OpenSymbol"/>
            </a:endParaRPr>
          </a:p>
        </p:txBody>
      </p:sp>
      <p:sp>
        <p:nvSpPr>
          <p:cNvPr id="145" name=""/>
          <p:cNvSpPr/>
          <p:nvPr/>
        </p:nvSpPr>
        <p:spPr>
          <a:xfrm>
            <a:off x="5991120" y="2181240"/>
            <a:ext cx="193320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f5f2ee"/>
                </a:solidFill>
                <a:effectLst/>
                <a:uFillTx/>
                <a:latin typeface="Vidaloka"/>
              </a:rPr>
              <a:t>Open &amp; Reproduce</a:t>
            </a:r>
            <a:endParaRPr b="0" lang="en-US" sz="1800" strike="noStrike" u="none">
              <a:solidFill>
                <a:srgbClr val="000000"/>
              </a:solidFill>
              <a:effectLst/>
              <a:uFillTx/>
              <a:latin typeface="OpenSymbol"/>
            </a:endParaRPr>
          </a:p>
        </p:txBody>
      </p:sp>
      <p:sp>
        <p:nvSpPr>
          <p:cNvPr id="146" name=""/>
          <p:cNvSpPr/>
          <p:nvPr/>
        </p:nvSpPr>
        <p:spPr>
          <a:xfrm>
            <a:off x="5991120" y="2657520"/>
            <a:ext cx="1933200" cy="8856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5f2ee"/>
                </a:solidFill>
                <a:effectLst/>
                <a:uFillTx/>
                <a:latin typeface="Montserrat"/>
              </a:rPr>
              <a:t>Student B opens the link to see the exact same schedule instantly.</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
          <p:cNvSpPr/>
          <p:nvPr/>
        </p:nvSpPr>
        <p:spPr>
          <a:xfrm>
            <a:off x="819000" y="1390680"/>
            <a:ext cx="3580920" cy="261900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48" name=""/>
          <p:cNvSpPr/>
          <p:nvPr/>
        </p:nvSpPr>
        <p:spPr>
          <a:xfrm>
            <a:off x="4743360" y="1390680"/>
            <a:ext cx="3580920" cy="2619000"/>
          </a:xfrm>
          <a:prstGeom prst="roundRect">
            <a:avLst>
              <a:gd name="adj" fmla="val 16667"/>
            </a:avLst>
          </a:prstGeom>
          <a:solidFill>
            <a:srgbClr val="3f3533"/>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149" name=""/>
          <p:cNvSpPr/>
          <p:nvPr/>
        </p:nvSpPr>
        <p:spPr>
          <a:xfrm>
            <a:off x="819000" y="628560"/>
            <a:ext cx="75052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000000"/>
                </a:solidFill>
                <a:effectLst/>
                <a:uFillTx/>
                <a:latin typeface="Vidaloka"/>
              </a:rPr>
              <a:t>Mobile-first Timetable, Clear on Every</a:t>
            </a:r>
            <a:r>
              <a:rPr b="1" lang="zh-CN" sz="2400" strike="noStrike" u="none">
                <a:solidFill>
                  <a:srgbClr val="000000"/>
                </a:solidFill>
                <a:effectLst/>
                <a:uFillTx/>
                <a:latin typeface="Vidaloka"/>
              </a:rPr>
              <a:t>屏</a:t>
            </a:r>
            <a:endParaRPr b="0" lang="en-US" sz="2400" strike="noStrike" u="none">
              <a:solidFill>
                <a:srgbClr val="000000"/>
              </a:solidFill>
              <a:effectLst/>
              <a:uFillTx/>
              <a:latin typeface="OpenSymbol"/>
            </a:endParaRPr>
          </a:p>
        </p:txBody>
      </p:sp>
      <p:sp>
        <p:nvSpPr>
          <p:cNvPr id="150" name=""/>
          <p:cNvSpPr/>
          <p:nvPr/>
        </p:nvSpPr>
        <p:spPr>
          <a:xfrm>
            <a:off x="1028880" y="2752560"/>
            <a:ext cx="3161880" cy="10663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5f2ee"/>
                </a:solidFill>
                <a:effectLst/>
                <a:uFillTx/>
                <a:latin typeface="Montserrat"/>
              </a:rPr>
              <a:t>Dense timetable with full feature set, multi-filter options, and cross-year browsing. Ideal on larger screens, where precise selections and expansive controls are the focus.</a:t>
            </a:r>
            <a:endParaRPr b="0" lang="en-US" sz="1200" strike="noStrike" u="none">
              <a:solidFill>
                <a:srgbClr val="000000"/>
              </a:solidFill>
              <a:effectLst/>
              <a:uFillTx/>
              <a:latin typeface="OpenSymbol"/>
            </a:endParaRPr>
          </a:p>
        </p:txBody>
      </p:sp>
      <p:sp>
        <p:nvSpPr>
          <p:cNvPr id="151" name=""/>
          <p:cNvSpPr/>
          <p:nvPr/>
        </p:nvSpPr>
        <p:spPr>
          <a:xfrm>
            <a:off x="4952880" y="2752560"/>
            <a:ext cx="3161880" cy="1247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5f2ee"/>
                </a:solidFill>
                <a:effectLst/>
                <a:uFillTx/>
                <a:latin typeface="Montserrat"/>
              </a:rPr>
              <a:t>Touch-first layout with large targets, single-column timetable, and readable typography. Quick course search, instructor filters, and reset controls optimized for one-handed use.</a:t>
            </a:r>
            <a:endParaRPr b="0" lang="en-US" sz="1200" strike="noStrike" u="none">
              <a:solidFill>
                <a:srgbClr val="000000"/>
              </a:solidFill>
              <a:effectLst/>
              <a:uFillTx/>
              <a:latin typeface="OpenSymbol"/>
            </a:endParaRPr>
          </a:p>
        </p:txBody>
      </p:sp>
      <p:sp>
        <p:nvSpPr>
          <p:cNvPr id="152" name=""/>
          <p:cNvSpPr/>
          <p:nvPr/>
        </p:nvSpPr>
        <p:spPr>
          <a:xfrm>
            <a:off x="819000" y="4181400"/>
            <a:ext cx="7505280" cy="3330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Montserrat"/>
              </a:rPr>
              <a:t>Mobile view preserves readability and usability on phones without sacrificing core functionality.</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
          <p:cNvSpPr/>
          <p:nvPr/>
        </p:nvSpPr>
        <p:spPr>
          <a:xfrm>
            <a:off x="2647800" y="1685880"/>
            <a:ext cx="3847680" cy="201888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400" strike="noStrike" u="none">
                <a:solidFill>
                  <a:srgbClr val="000000"/>
                </a:solidFill>
                <a:effectLst/>
                <a:uFillTx/>
                <a:latin typeface="Montserrat"/>
              </a:rPr>
              <a:t>Fall 2026 Planner lets you build your schedule, generate alternatives tailored to your preferences, and share one link with classmates or advisors. Mobile-friendly, collaboration-ready, and easy to review at a glance. Turn tentative plans into a trusted syllabus for the semester.</a:t>
            </a:r>
            <a:endParaRPr b="0" lang="en-US" sz="1400" strike="noStrike" u="none">
              <a:solidFill>
                <a:srgbClr val="000000"/>
              </a:solidFill>
              <a:effectLst/>
              <a:uFillTx/>
              <a:latin typeface="OpenSymbol"/>
            </a:endParaRPr>
          </a:p>
        </p:txBody>
      </p:sp>
      <p:sp>
        <p:nvSpPr>
          <p:cNvPr id="154" name=""/>
          <p:cNvSpPr/>
          <p:nvPr/>
        </p:nvSpPr>
        <p:spPr>
          <a:xfrm>
            <a:off x="1733400" y="447840"/>
            <a:ext cx="5676480" cy="380520"/>
          </a:xfrm>
          <a:prstGeom prst="rect">
            <a:avLst/>
          </a:prstGeom>
          <a:noFill/>
          <a:ln w="0">
            <a:noFill/>
          </a:ln>
        </p:spPr>
        <p:style>
          <a:lnRef idx="0"/>
          <a:fillRef idx="0"/>
          <a:effectRef idx="0"/>
          <a:fontRef idx="minor"/>
        </p:style>
        <p:txBody>
          <a:bodyPr anchor="t">
            <a:normAutofit fontScale="77500" lnSpcReduction="19999"/>
          </a:bodyPr>
          <a:p>
            <a:pPr algn="ctr" defTabSz="914400">
              <a:lnSpc>
                <a:spcPct val="100000"/>
              </a:lnSpc>
              <a:tabLst>
                <a:tab algn="l" pos="0"/>
              </a:tabLst>
            </a:pPr>
            <a:r>
              <a:rPr b="0" lang="en-US" sz="3000" strike="noStrike" u="none">
                <a:solidFill>
                  <a:srgbClr val="000000"/>
                </a:solidFill>
                <a:effectLst/>
                <a:uFillTx/>
                <a:latin typeface="Vidaloka"/>
              </a:rPr>
              <a:t>Plan With Purpose</a:t>
            </a:r>
            <a:endParaRPr b="0" lang="en-US" sz="30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2828880" y="93960"/>
            <a:ext cx="3476160" cy="2316600"/>
          </a:xfrm>
          <a:prstGeom prst="rect">
            <a:avLst/>
          </a:prstGeom>
          <a:noFill/>
          <a:ln w="0">
            <a:noFill/>
          </a:ln>
        </p:spPr>
        <p:txBody>
          <a:bodyPr lIns="91440" rIns="91440" tIns="91440" bIns="91440" anchor="ctr">
            <a:spAutoFit/>
          </a:bodyPr>
          <a:p>
            <a:pPr indent="0" algn="ctr">
              <a:lnSpc>
                <a:spcPct val="100000"/>
              </a:lnSpc>
              <a:buNone/>
              <a:tabLst>
                <a:tab algn="l" pos="0"/>
              </a:tabLst>
            </a:pPr>
            <a:r>
              <a:rPr b="0" lang="en" sz="7000" strike="noStrike" u="none">
                <a:solidFill>
                  <a:schemeClr val="dk1"/>
                </a:solidFill>
                <a:effectLst/>
                <a:uFillTx/>
                <a:latin typeface="Vidaloka"/>
                <a:ea typeface="Vidaloka"/>
              </a:rPr>
              <a:t>Thanks</a:t>
            </a:r>
            <a:endParaRPr b="0" lang="fr-FR" sz="7000" strike="noStrike" u="none">
              <a:solidFill>
                <a:schemeClr val="dk1"/>
              </a:solidFill>
              <a:effectLst/>
              <a:uFillTx/>
              <a:latin typeface="Arial"/>
            </a:endParaRPr>
          </a:p>
        </p:txBody>
      </p:sp>
      <p:sp>
        <p:nvSpPr>
          <p:cNvPr id="156" name="PlaceHolder 2"/>
          <p:cNvSpPr>
            <a:spLocks noGrp="1"/>
          </p:cNvSpPr>
          <p:nvPr>
            <p:ph type="subTitle"/>
          </p:nvPr>
        </p:nvSpPr>
        <p:spPr>
          <a:xfrm>
            <a:off x="2981160" y="1752480"/>
            <a:ext cx="3180960" cy="924120"/>
          </a:xfrm>
          <a:prstGeom prst="rect">
            <a:avLst/>
          </a:prstGeom>
          <a:noFill/>
          <a:ln w="0">
            <a:noFill/>
          </a:ln>
        </p:spPr>
        <p:txBody>
          <a:bodyPr lIns="91440" rIns="91440" tIns="91440" bIns="91440" anchor="t">
            <a:spAutoFit/>
          </a:bodyPr>
          <a:p>
            <a:pPr indent="0" algn="ctr">
              <a:lnSpc>
                <a:spcPct val="100000"/>
              </a:lnSpc>
              <a:buNone/>
              <a:tabLst>
                <a:tab algn="l" pos="0"/>
              </a:tabLst>
            </a:pPr>
            <a:r>
              <a:rPr b="0" lang="en" sz="1400" strike="noStrike" u="none">
                <a:solidFill>
                  <a:schemeClr val="dk2"/>
                </a:solidFill>
                <a:effectLst/>
                <a:uFillTx/>
                <a:latin typeface="Montserrat"/>
                <a:ea typeface="Montserrat"/>
              </a:rPr>
              <a:t>Do you have any questions?</a:t>
            </a:r>
            <a:endParaRPr b="0" lang="en-US" sz="1400" strike="noStrike" u="none">
              <a:solidFill>
                <a:srgbClr val="000000"/>
              </a:solidFill>
              <a:effectLst/>
              <a:uFillTx/>
              <a:latin typeface="OpenSymbol"/>
            </a:endParaRPr>
          </a:p>
          <a:p>
            <a:pPr indent="0" algn="ctr">
              <a:lnSpc>
                <a:spcPct val="100000"/>
              </a:lnSpc>
              <a:buNone/>
              <a:tabLst>
                <a:tab algn="l" pos="0"/>
              </a:tabLst>
            </a:pPr>
            <a:r>
              <a:rPr b="0" lang="en" sz="1400" strike="noStrike" u="none">
                <a:solidFill>
                  <a:schemeClr val="dk2"/>
                </a:solidFill>
                <a:effectLst/>
                <a:uFillTx/>
                <a:latin typeface="Montserrat"/>
                <a:ea typeface="Montserrat"/>
              </a:rPr>
              <a:t>your email@freepik.com</a:t>
            </a:r>
            <a:endParaRPr b="0" lang="en-US" sz="1400" strike="noStrike" u="none">
              <a:solidFill>
                <a:srgbClr val="000000"/>
              </a:solidFill>
              <a:effectLst/>
              <a:uFillTx/>
              <a:latin typeface="OpenSymbol"/>
            </a:endParaRPr>
          </a:p>
          <a:p>
            <a:pPr indent="0" algn="ctr">
              <a:lnSpc>
                <a:spcPct val="100000"/>
              </a:lnSpc>
              <a:buNone/>
              <a:tabLst>
                <a:tab algn="l" pos="0"/>
              </a:tabLst>
            </a:pPr>
            <a:r>
              <a:rPr b="0" lang="en" sz="1400" strike="noStrike" u="none">
                <a:solidFill>
                  <a:schemeClr val="dk2"/>
                </a:solidFill>
                <a:effectLst/>
                <a:uFillTx/>
                <a:latin typeface="Montserrat"/>
                <a:ea typeface="Montserrat"/>
              </a:rPr>
              <a:t>+91 620 421 838 yourcompany.com</a:t>
            </a:r>
            <a:endParaRPr b="0" lang="en-US" sz="1400" strike="noStrike" u="none">
              <a:solidFill>
                <a:srgbClr val="000000"/>
              </a:solidFill>
              <a:effectLst/>
              <a:uFillTx/>
              <a:latin typeface="OpenSymbol"/>
            </a:endParaRPr>
          </a:p>
        </p:txBody>
      </p:sp>
      <p:grpSp>
        <p:nvGrpSpPr>
          <p:cNvPr id="157" name="Google Shape;1576;p124"/>
          <p:cNvGrpSpPr/>
          <p:nvPr/>
        </p:nvGrpSpPr>
        <p:grpSpPr>
          <a:xfrm>
            <a:off x="4961880" y="2876760"/>
            <a:ext cx="458280" cy="458280"/>
            <a:chOff x="4961880" y="2876760"/>
            <a:chExt cx="458280" cy="458280"/>
          </a:xfrm>
        </p:grpSpPr>
        <p:sp>
          <p:nvSpPr>
            <p:cNvPr id="158" name="Google Shape;1577;p124"/>
            <p:cNvSpPr/>
            <p:nvPr/>
          </p:nvSpPr>
          <p:spPr>
            <a:xfrm>
              <a:off x="5056920" y="295848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1119" h="1117">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accent1"/>
            </a:solidFill>
            <a:ln w="0">
              <a:noFill/>
            </a:ln>
          </p:spPr>
          <p:style>
            <a:lnRef idx="0"/>
            <a:fillRef idx="0"/>
            <a:effectRef idx="0"/>
            <a:fontRef idx="minor"/>
          </p:style>
          <p:txBody>
            <a:bodyPr tIns="13320" bIns="13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9" name="Google Shape;1578;p124"/>
            <p:cNvSpPr/>
            <p:nvPr/>
          </p:nvSpPr>
          <p:spPr>
            <a:xfrm>
              <a:off x="4961880" y="2876760"/>
              <a:ext cx="458280" cy="458280"/>
            </a:xfrm>
            <a:custGeom>
              <a:avLst/>
              <a:gdLst>
                <a:gd name="textAreaLeft" fmla="*/ 0 w 458280"/>
                <a:gd name="textAreaRight" fmla="*/ 458640 w 458280"/>
                <a:gd name="textAreaTop" fmla="*/ 0 h 458280"/>
                <a:gd name="textAreaBottom" fmla="*/ 458640 h 458280"/>
              </a:gdLst>
              <a:ahLst/>
              <a:cxnLst/>
              <a:rect l="textAreaLeft" t="textAreaTop" r="textAreaRight" b="textAreaBottom"/>
              <a:pathLst>
                <a:path w="19065" h="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accen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0" name="Google Shape;1579;p124"/>
            <p:cNvSpPr/>
            <p:nvPr/>
          </p:nvSpPr>
          <p:spPr>
            <a:xfrm>
              <a:off x="5164200" y="3065400"/>
              <a:ext cx="160920" cy="188280"/>
            </a:xfrm>
            <a:custGeom>
              <a:avLst/>
              <a:gdLst>
                <a:gd name="textAreaLeft" fmla="*/ 0 w 160920"/>
                <a:gd name="textAreaRight" fmla="*/ 161280 w 160920"/>
                <a:gd name="textAreaTop" fmla="*/ 0 h 188280"/>
                <a:gd name="textAreaBottom" fmla="*/ 188640 h 188280"/>
              </a:gdLst>
              <a:ahLst/>
              <a:cxnLst/>
              <a:rect l="textAreaLeft" t="textAreaTop" r="textAreaRight" b="textAreaBottom"/>
              <a:pathLst>
                <a:path w="6704" h="7837">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accen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1" name="Google Shape;1580;p124"/>
            <p:cNvSpPr/>
            <p:nvPr/>
          </p:nvSpPr>
          <p:spPr>
            <a:xfrm>
              <a:off x="5056920" y="3065760"/>
              <a:ext cx="26640" cy="187920"/>
            </a:xfrm>
            <a:custGeom>
              <a:avLst/>
              <a:gdLst>
                <a:gd name="textAreaLeft" fmla="*/ 0 w 26640"/>
                <a:gd name="textAreaRight" fmla="*/ 27000 w 26640"/>
                <a:gd name="textAreaTop" fmla="*/ 0 h 187920"/>
                <a:gd name="textAreaBottom" fmla="*/ 188280 h 187920"/>
              </a:gdLst>
              <a:ahLst/>
              <a:cxnLst/>
              <a:rect l="textAreaLeft" t="textAreaTop" r="textAreaRight" b="textAreaBottom"/>
              <a:pathLst>
                <a:path w="1119" h="7820">
                  <a:moveTo>
                    <a:pt x="0" y="0"/>
                  </a:moveTo>
                  <a:lnTo>
                    <a:pt x="0" y="7819"/>
                  </a:lnTo>
                  <a:lnTo>
                    <a:pt x="1118" y="7819"/>
                  </a:lnTo>
                  <a:lnTo>
                    <a:pt x="1118" y="0"/>
                  </a:lnTo>
                  <a:close/>
                </a:path>
              </a:pathLst>
            </a:custGeom>
            <a:solidFill>
              <a:schemeClr val="accen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62" name="Google Shape;1581;p124"/>
          <p:cNvGrpSpPr/>
          <p:nvPr/>
        </p:nvGrpSpPr>
        <p:grpSpPr>
          <a:xfrm>
            <a:off x="3721680" y="2876760"/>
            <a:ext cx="458280" cy="458280"/>
            <a:chOff x="3721680" y="2876760"/>
            <a:chExt cx="458280" cy="458280"/>
          </a:xfrm>
        </p:grpSpPr>
        <p:sp>
          <p:nvSpPr>
            <p:cNvPr id="163" name="Google Shape;1582;p124"/>
            <p:cNvSpPr/>
            <p:nvPr/>
          </p:nvSpPr>
          <p:spPr>
            <a:xfrm>
              <a:off x="3938400" y="2957040"/>
              <a:ext cx="156600" cy="378000"/>
            </a:xfrm>
            <a:custGeom>
              <a:avLst/>
              <a:gdLst>
                <a:gd name="textAreaLeft" fmla="*/ 0 w 156600"/>
                <a:gd name="textAreaRight" fmla="*/ 156960 w 156600"/>
                <a:gd name="textAreaTop" fmla="*/ 0 h 378000"/>
                <a:gd name="textAreaBottom" fmla="*/ 378360 h 378000"/>
              </a:gdLst>
              <a:ahLst/>
              <a:cxnLst/>
              <a:rect l="textAreaLeft" t="textAreaTop" r="textAreaRight" b="textAreaBottom"/>
              <a:pathLst>
                <a:path w="6527" h="157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accen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4" name="Google Shape;1583;p124"/>
            <p:cNvSpPr/>
            <p:nvPr/>
          </p:nvSpPr>
          <p:spPr>
            <a:xfrm>
              <a:off x="3721680" y="2876760"/>
              <a:ext cx="458280" cy="458280"/>
            </a:xfrm>
            <a:custGeom>
              <a:avLst/>
              <a:gdLst>
                <a:gd name="textAreaLeft" fmla="*/ 0 w 458280"/>
                <a:gd name="textAreaRight" fmla="*/ 458640 w 458280"/>
                <a:gd name="textAreaTop" fmla="*/ 0 h 458280"/>
                <a:gd name="textAreaBottom" fmla="*/ 458640 h 458280"/>
              </a:gdLst>
              <a:ahLst/>
              <a:cxnLst/>
              <a:rect l="textAreaLeft" t="textAreaTop" r="textAreaRight" b="textAreaBottom"/>
              <a:pathLst>
                <a:path w="19066" h="19065">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accen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65" name="Google Shape;1584;p124"/>
          <p:cNvGrpSpPr/>
          <p:nvPr/>
        </p:nvGrpSpPr>
        <p:grpSpPr>
          <a:xfrm>
            <a:off x="4350240" y="2876760"/>
            <a:ext cx="458280" cy="458280"/>
            <a:chOff x="4350240" y="2876760"/>
            <a:chExt cx="458280" cy="458280"/>
          </a:xfrm>
        </p:grpSpPr>
        <p:sp>
          <p:nvSpPr>
            <p:cNvPr id="166" name="Google Shape;1585;p124"/>
            <p:cNvSpPr/>
            <p:nvPr/>
          </p:nvSpPr>
          <p:spPr>
            <a:xfrm>
              <a:off x="4431600" y="2958480"/>
              <a:ext cx="295200" cy="295200"/>
            </a:xfrm>
            <a:custGeom>
              <a:avLst/>
              <a:gdLst>
                <a:gd name="textAreaLeft" fmla="*/ 0 w 295200"/>
                <a:gd name="textAreaRight" fmla="*/ 295560 w 295200"/>
                <a:gd name="textAreaTop" fmla="*/ 0 h 295200"/>
                <a:gd name="textAreaBottom" fmla="*/ 295560 h 295200"/>
              </a:gdLst>
              <a:ahLst/>
              <a:cxnLst/>
              <a:rect l="textAreaLeft" t="textAreaTop" r="textAreaRight" b="textAreaBottom"/>
              <a:pathLst>
                <a:path w="12288" h="12287">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accen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7" name="Google Shape;1586;p124"/>
            <p:cNvSpPr/>
            <p:nvPr/>
          </p:nvSpPr>
          <p:spPr>
            <a:xfrm>
              <a:off x="4512240" y="3039120"/>
              <a:ext cx="133920" cy="133920"/>
            </a:xfrm>
            <a:custGeom>
              <a:avLst/>
              <a:gdLst>
                <a:gd name="textAreaLeft" fmla="*/ 0 w 133920"/>
                <a:gd name="textAreaRight" fmla="*/ 134280 w 133920"/>
                <a:gd name="textAreaTop" fmla="*/ 0 h 133920"/>
                <a:gd name="textAreaBottom" fmla="*/ 134280 h 133920"/>
              </a:gdLst>
              <a:ahLst/>
              <a:cxnLst/>
              <a:rect l="textAreaLeft" t="textAreaTop" r="textAreaRight" b="textAreaBottom"/>
              <a:pathLst>
                <a:path w="5588" h="5585">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accent1"/>
            </a:solidFill>
            <a:ln w="0">
              <a:noFill/>
            </a:ln>
          </p:spPr>
          <p:style>
            <a:lnRef idx="0"/>
            <a:fillRef idx="0"/>
            <a:effectRef idx="0"/>
            <a:fontRef idx="minor"/>
          </p:style>
          <p:txBody>
            <a:bodyPr tIns="66960" bIns="669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8" name="Google Shape;1587;p124"/>
            <p:cNvSpPr/>
            <p:nvPr/>
          </p:nvSpPr>
          <p:spPr>
            <a:xfrm>
              <a:off x="4350240" y="2876760"/>
              <a:ext cx="458280" cy="458280"/>
            </a:xfrm>
            <a:custGeom>
              <a:avLst/>
              <a:gdLst>
                <a:gd name="textAreaLeft" fmla="*/ 0 w 458280"/>
                <a:gd name="textAreaRight" fmla="*/ 458640 w 458280"/>
                <a:gd name="textAreaTop" fmla="*/ 0 h 458280"/>
                <a:gd name="textAreaBottom" fmla="*/ 458640 h 458280"/>
              </a:gdLst>
              <a:ahLst/>
              <a:cxnLst/>
              <a:rect l="textAreaLeft" t="textAreaTop" r="textAreaRight" b="textAreaBottom"/>
              <a:pathLst>
                <a:path w="19064" h="19065">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accen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69" name="PlaceHolder 3"/>
          <p:cNvSpPr>
            <a:spLocks noGrp="1"/>
          </p:cNvSpPr>
          <p:nvPr>
            <p:ph type="subTitle"/>
          </p:nvPr>
        </p:nvSpPr>
        <p:spPr>
          <a:xfrm>
            <a:off x="2685960" y="4086360"/>
            <a:ext cx="3790440" cy="396720"/>
          </a:xfrm>
          <a:prstGeom prst="rect">
            <a:avLst/>
          </a:prstGeom>
          <a:noFill/>
          <a:ln w="0">
            <a:noFill/>
          </a:ln>
        </p:spPr>
        <p:txBody>
          <a:bodyPr lIns="91440" rIns="91440" tIns="91440" bIns="91440" anchor="t">
            <a:spAutoFit/>
          </a:bodyPr>
          <a:p>
            <a:pPr algn="ctr">
              <a:lnSpc>
                <a:spcPct val="100000"/>
              </a:lnSpc>
              <a:spcAft>
                <a:spcPts val="1199"/>
              </a:spcAft>
              <a:tabLst>
                <a:tab algn="l" pos="0"/>
              </a:tabLst>
            </a:pPr>
            <a:r>
              <a:rPr b="0" lang="en" sz="1100" strike="noStrike" u="none">
                <a:solidFill>
                  <a:schemeClr val="dk2"/>
                </a:solidFill>
                <a:effectLst/>
                <a:uFillTx/>
                <a:latin typeface="Montserrat"/>
                <a:ea typeface="Montserrat"/>
              </a:rPr>
              <a:t>Please keep this slide for attribution</a:t>
            </a:r>
            <a:endParaRPr b="0" lang="en-US" sz="11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LibreOffice/25.8.1.1$Linux_X86_64 LibreOffice_project/580$Build-1</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2026-09-24T09:27:05Z</dcterms:created>
  <dc:creator>Slidesgo AI</dc:creator>
  <dc:description/>
  <dc:language>en-US</dc:language>
  <cp:lastModifiedBy>Unknown Creator</cp:lastModifiedBy>
  <dcterms:modified xsi:type="dcterms:W3CDTF">2026-09-24T09:27:05Z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14</vt:r8>
  </property>
  <property fmtid="{D5CDD505-2E9C-101B-9397-08002B2CF9AE}" pid="3" name="SlidesgoGeneratedBy">
    <vt:lpwstr>slidesgo-ai</vt:lpwstr>
  </property>
  <property fmtid="{D5CDD505-2E9C-101B-9397-08002B2CF9AE}" pid="4" name="SlidesgoPresentationUuid">
    <vt:lpwstr>a2d25154-1971-4b3c-9546-fbf1635e4766</vt:lpwstr>
  </property>
</Properties>
</file>